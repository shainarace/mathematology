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jpg" ContentType="image/jpeg"/>
  <Default Extension="emf" ContentType="image/x-emf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34"/>
  </p:notesMasterIdLst>
  <p:sldIdLst>
    <p:sldId id="269" r:id="rId2"/>
    <p:sldId id="321" r:id="rId3"/>
    <p:sldId id="320" r:id="rId4"/>
    <p:sldId id="309" r:id="rId5"/>
    <p:sldId id="316" r:id="rId6"/>
    <p:sldId id="257" r:id="rId7"/>
    <p:sldId id="258" r:id="rId8"/>
    <p:sldId id="259" r:id="rId9"/>
    <p:sldId id="260" r:id="rId10"/>
    <p:sldId id="275" r:id="rId11"/>
    <p:sldId id="329" r:id="rId12"/>
    <p:sldId id="322" r:id="rId13"/>
    <p:sldId id="325" r:id="rId14"/>
    <p:sldId id="323" r:id="rId15"/>
    <p:sldId id="324" r:id="rId16"/>
    <p:sldId id="326" r:id="rId17"/>
    <p:sldId id="294" r:id="rId18"/>
    <p:sldId id="295" r:id="rId19"/>
    <p:sldId id="296" r:id="rId20"/>
    <p:sldId id="285" r:id="rId21"/>
    <p:sldId id="306" r:id="rId22"/>
    <p:sldId id="286" r:id="rId23"/>
    <p:sldId id="287" r:id="rId24"/>
    <p:sldId id="319" r:id="rId25"/>
    <p:sldId id="307" r:id="rId26"/>
    <p:sldId id="308" r:id="rId27"/>
    <p:sldId id="327" r:id="rId28"/>
    <p:sldId id="261" r:id="rId29"/>
    <p:sldId id="276" r:id="rId30"/>
    <p:sldId id="277" r:id="rId31"/>
    <p:sldId id="278" r:id="rId32"/>
    <p:sldId id="328" r:id="rId3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3DD8214-73D9-8743-B8DE-EEE209D4C00A}">
          <p14:sldIdLst>
            <p14:sldId id="269"/>
            <p14:sldId id="321"/>
            <p14:sldId id="320"/>
            <p14:sldId id="309"/>
            <p14:sldId id="316"/>
            <p14:sldId id="257"/>
            <p14:sldId id="258"/>
            <p14:sldId id="259"/>
            <p14:sldId id="260"/>
            <p14:sldId id="275"/>
            <p14:sldId id="329"/>
            <p14:sldId id="322"/>
            <p14:sldId id="325"/>
            <p14:sldId id="323"/>
            <p14:sldId id="324"/>
            <p14:sldId id="326"/>
            <p14:sldId id="294"/>
            <p14:sldId id="295"/>
            <p14:sldId id="296"/>
            <p14:sldId id="285"/>
            <p14:sldId id="306"/>
            <p14:sldId id="286"/>
            <p14:sldId id="287"/>
            <p14:sldId id="319"/>
            <p14:sldId id="307"/>
            <p14:sldId id="308"/>
            <p14:sldId id="327"/>
            <p14:sldId id="261"/>
            <p14:sldId id="276"/>
            <p14:sldId id="277"/>
            <p14:sldId id="278"/>
            <p14:sldId id="32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74" autoAdjust="0"/>
    <p:restoredTop sz="94674" autoAdjust="0"/>
  </p:normalViewPr>
  <p:slideViewPr>
    <p:cSldViewPr snapToGrid="0" snapToObjects="1">
      <p:cViewPr varScale="1">
        <p:scale>
          <a:sx n="124" d="100"/>
          <a:sy n="124" d="100"/>
        </p:scale>
        <p:origin x="1816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624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255EEC-29BA-D749-96B9-763E24A31A25}" type="datetimeFigureOut">
              <a:rPr lang="en-US" smtClean="0"/>
              <a:t>3/1/18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21E32A-3F26-D547-B939-8D34C20585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99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 eaLnBrk="1" latinLnBrk="0" hangingPunct="1"/>
            <a:fld id="{23A271A1-F6D6-438B-A432-4747EE7ECD40}" type="datetimeFigureOut">
              <a:rPr lang="en-US" smtClean="0"/>
              <a:pPr algn="ctr" eaLnBrk="1" latinLnBrk="0" hangingPunct="1"/>
              <a:t>3/1/18</a:t>
            </a:fld>
            <a:endParaRPr lang="en-US" sz="2000" dirty="0">
              <a:solidFill>
                <a:srgbClr val="FFFFFF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chemeClr val="tx2"/>
              </a:solidFill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 eaLnBrk="1" latinLnBrk="0" hangingPunct="1"/>
            <a:endParaRPr kumimoji="0" 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3/1/18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3/1/18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 sz="2400" dirty="0">
              <a:solidFill>
                <a:srgbClr val="FFFFFF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3/1/18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3/1/18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3/1/18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3/1/18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3/1/18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3/1/18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 sz="28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3/1/18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3/1/18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3/1/18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 sz="1400" b="1" dirty="0">
              <a:solidFill>
                <a:srgbClr val="FFFFFF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e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4.ncsu.edu/~slrace/FINetwork.html" TargetMode="External"/><Relationship Id="rId3" Type="http://schemas.openxmlformats.org/officeDocument/2006/relationships/hyperlink" Target="http://www4.ncsu.edu/~slrace/facebook.html" TargetMode="Externa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79247"/>
            <a:ext cx="7772400" cy="3429644"/>
          </a:xfrm>
        </p:spPr>
        <p:txBody>
          <a:bodyPr/>
          <a:lstStyle/>
          <a:p>
            <a:r>
              <a:rPr lang="en-US" dirty="0"/>
              <a:t>Network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Dr. Shaina Race</a:t>
            </a:r>
          </a:p>
          <a:p>
            <a:r>
              <a:rPr lang="en-US" dirty="0"/>
              <a:t>Institute for Advanced Analytics</a:t>
            </a:r>
          </a:p>
          <a:p>
            <a:endParaRPr lang="en-US" dirty="0"/>
          </a:p>
          <a:p>
            <a:r>
              <a:rPr lang="en-US" dirty="0"/>
              <a:t>Spring </a:t>
            </a:r>
            <a:r>
              <a:rPr lang="en-US" dirty="0" smtClean="0"/>
              <a:t>2018</a:t>
            </a:r>
            <a:r>
              <a:rPr lang="en-US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9424257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  <a:buFont typeface="Wingdings" charset="2"/>
              <a:buChar char="Ø"/>
            </a:pPr>
            <a:r>
              <a:rPr lang="en-US" dirty="0" smtClean="0"/>
              <a:t>Visualization/Terminology basics</a:t>
            </a:r>
          </a:p>
          <a:p>
            <a:pPr>
              <a:lnSpc>
                <a:spcPct val="200000"/>
              </a:lnSpc>
              <a:buFont typeface="Wingdings" charset="2"/>
              <a:buChar char="Ø"/>
            </a:pPr>
            <a:r>
              <a:rPr lang="en-US" dirty="0" smtClean="0"/>
              <a:t>Descriptive Statistics</a:t>
            </a:r>
          </a:p>
          <a:p>
            <a:pPr>
              <a:lnSpc>
                <a:spcPct val="200000"/>
              </a:lnSpc>
              <a:buFont typeface="Wingdings" charset="2"/>
              <a:buChar char="Ø"/>
            </a:pPr>
            <a:r>
              <a:rPr lang="en-US" dirty="0" smtClean="0"/>
              <a:t>Measures of Influence/Importance in a network</a:t>
            </a:r>
          </a:p>
          <a:p>
            <a:pPr>
              <a:lnSpc>
                <a:spcPct val="200000"/>
              </a:lnSpc>
              <a:buFont typeface="Wingdings" charset="2"/>
              <a:buChar char="Ø"/>
            </a:pPr>
            <a:r>
              <a:rPr lang="en-US" dirty="0" smtClean="0"/>
              <a:t>Community Detection (clustering)</a:t>
            </a:r>
          </a:p>
          <a:p>
            <a:pPr>
              <a:lnSpc>
                <a:spcPct val="200000"/>
              </a:lnSpc>
              <a:buFont typeface="Wingdings" charset="2"/>
              <a:buChar char="Ø"/>
            </a:pPr>
            <a:r>
              <a:rPr lang="en-US" dirty="0" smtClean="0"/>
              <a:t>Hypothesis Testing on networks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9467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Questions this course might answer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Ø"/>
            </a:pPr>
            <a:r>
              <a:rPr lang="en-US" dirty="0" smtClean="0"/>
              <a:t>Who is the most important or influential person in this network?</a:t>
            </a:r>
          </a:p>
          <a:p>
            <a:pPr>
              <a:buFont typeface="Wingdings" charset="2"/>
              <a:buChar char="Ø"/>
            </a:pPr>
            <a:r>
              <a:rPr lang="en-US" dirty="0" smtClean="0"/>
              <a:t>Is there any community structure or clustering apparent? Who is forming social groups? Who is NOT fitting in with the community structure?</a:t>
            </a:r>
          </a:p>
          <a:p>
            <a:pPr>
              <a:buFont typeface="Wingdings" charset="2"/>
              <a:buChar char="Ø"/>
            </a:pPr>
            <a:r>
              <a:rPr lang="en-US" dirty="0" smtClean="0"/>
              <a:t>Are MSA students who come from similar backgrounds more likely to connect socially?</a:t>
            </a:r>
          </a:p>
          <a:p>
            <a:pPr>
              <a:buFont typeface="Wingdings" charset="2"/>
              <a:buChar char="Ø"/>
            </a:pPr>
            <a:r>
              <a:rPr lang="en-US" dirty="0" smtClean="0"/>
              <a:t>What is driving the social atmosphere in our organization? What factors explain the network?</a:t>
            </a:r>
          </a:p>
          <a:p>
            <a:pPr>
              <a:buFont typeface="Wingdings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59768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 to </a:t>
            </a:r>
            <a:br>
              <a:rPr lang="en-US" dirty="0" smtClean="0"/>
            </a:br>
            <a:r>
              <a:rPr lang="en-US" smtClean="0"/>
              <a:t>Network Data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Graphs, Nodes, Edges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645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graph/network? </a:t>
            </a:r>
          </a:p>
        </p:txBody>
      </p:sp>
      <p:pic>
        <p:nvPicPr>
          <p:cNvPr id="6" name="Content Placeholder 3" descr="graphex.pdf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38" b="5038"/>
          <a:stretch>
            <a:fillRect/>
          </a:stretch>
        </p:blipFill>
        <p:spPr>
          <a:xfrm>
            <a:off x="376569" y="1902592"/>
            <a:ext cx="8229600" cy="4525963"/>
          </a:xfrm>
        </p:spPr>
      </p:pic>
    </p:spTree>
    <p:extLst>
      <p:ext uri="{BB962C8B-B14F-4D97-AF65-F5344CB8AC3E}">
        <p14:creationId xmlns:p14="http://schemas.microsoft.com/office/powerpoint/2010/main" val="32783294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a graph/network?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Ø"/>
            </a:pPr>
            <a:r>
              <a:rPr lang="en-US" dirty="0" smtClean="0"/>
              <a:t>Collection of Entities </a:t>
            </a:r>
          </a:p>
          <a:p>
            <a:pPr lvl="1">
              <a:buFont typeface="Wingdings" charset="2"/>
              <a:buChar char="Ø"/>
            </a:pPr>
            <a:r>
              <a:rPr lang="en-US" sz="1800" dirty="0" smtClean="0"/>
              <a:t>i.e. Nodes/Vertices/Actors/Sites</a:t>
            </a:r>
          </a:p>
          <a:p>
            <a:pPr lvl="1">
              <a:buFont typeface="Wingdings" charset="2"/>
              <a:buChar char="Ø"/>
            </a:pPr>
            <a:r>
              <a:rPr lang="en-US" sz="1800" dirty="0" smtClean="0"/>
              <a:t>Ex: individuals, organizations, places, objects</a:t>
            </a:r>
          </a:p>
          <a:p>
            <a:pPr lvl="1">
              <a:buFont typeface="Wingdings" charset="2"/>
              <a:buChar char="Ø"/>
            </a:pPr>
            <a:endParaRPr lang="en-US" dirty="0" smtClean="0"/>
          </a:p>
          <a:p>
            <a:pPr>
              <a:buFont typeface="Wingdings" charset="2"/>
              <a:buChar char="Ø"/>
            </a:pPr>
            <a:r>
              <a:rPr lang="en-US" dirty="0" smtClean="0"/>
              <a:t>A </a:t>
            </a:r>
            <a:r>
              <a:rPr lang="en-US" b="1" dirty="0" smtClean="0"/>
              <a:t>structural variable</a:t>
            </a:r>
            <a:r>
              <a:rPr lang="en-US" dirty="0" smtClean="0"/>
              <a:t> that measures some relationship between </a:t>
            </a:r>
            <a:r>
              <a:rPr lang="en-US" b="1" dirty="0" smtClean="0"/>
              <a:t>dyads</a:t>
            </a:r>
            <a:r>
              <a:rPr lang="en-US" dirty="0" smtClean="0"/>
              <a:t>/pairs </a:t>
            </a:r>
          </a:p>
          <a:p>
            <a:pPr lvl="1">
              <a:buFont typeface="Wingdings" charset="2"/>
              <a:buChar char="Ø"/>
            </a:pPr>
            <a:r>
              <a:rPr lang="en-US" sz="1800" dirty="0" smtClean="0"/>
              <a:t>i.e. Edges/Arcs/Links/Ties/Relations</a:t>
            </a:r>
          </a:p>
          <a:p>
            <a:pPr lvl="1">
              <a:buFont typeface="Wingdings" charset="2"/>
              <a:buChar char="Ø"/>
            </a:pPr>
            <a:r>
              <a:rPr lang="en-US" sz="1800" dirty="0" smtClean="0"/>
              <a:t>Friendship, distance, similarity, trade, management</a:t>
            </a:r>
            <a:endParaRPr lang="en-US" sz="1800" dirty="0"/>
          </a:p>
        </p:txBody>
      </p:sp>
      <p:pic>
        <p:nvPicPr>
          <p:cNvPr id="4" name="Content Placeholder 3" descr="graphex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38" b="5038"/>
          <a:stretch>
            <a:fillRect/>
          </a:stretch>
        </p:blipFill>
        <p:spPr>
          <a:xfrm>
            <a:off x="2564134" y="4608484"/>
            <a:ext cx="3845281" cy="2114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3116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Graph Diagram</a:t>
            </a:r>
            <a:br>
              <a:rPr lang="en-US" dirty="0" smtClean="0"/>
            </a:br>
            <a:r>
              <a:rPr lang="en-US" sz="2800" dirty="0" smtClean="0"/>
              <a:t>(Binary Graph)</a:t>
            </a:r>
            <a:endParaRPr lang="en-US" sz="6600" dirty="0"/>
          </a:p>
        </p:txBody>
      </p:sp>
      <p:pic>
        <p:nvPicPr>
          <p:cNvPr id="4" name="Content Placeholder 3" descr="graphex.pdf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38" b="5038"/>
          <a:stretch>
            <a:fillRect/>
          </a:stretch>
        </p:blipFill>
        <p:spPr>
          <a:xfrm>
            <a:off x="1083004" y="1812616"/>
            <a:ext cx="6917073" cy="3804124"/>
          </a:xfrm>
        </p:spPr>
      </p:pic>
      <p:sp>
        <p:nvSpPr>
          <p:cNvPr id="3" name="TextBox 2"/>
          <p:cNvSpPr txBox="1"/>
          <p:nvPr/>
        </p:nvSpPr>
        <p:spPr>
          <a:xfrm>
            <a:off x="935322" y="5632216"/>
            <a:ext cx="7384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Edges are binary variables indicating presence/absence of relationship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71092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irectedgraphex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30" y="1752600"/>
            <a:ext cx="6666591" cy="4077207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609600" y="152400"/>
            <a:ext cx="82296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ts val="5800"/>
              </a:lnSpc>
              <a:spcBef>
                <a:spcPct val="0"/>
              </a:spcBef>
              <a:buNone/>
              <a:defRPr sz="5400" kern="120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 dirty="0" smtClean="0"/>
              <a:t>Graph Diagram</a:t>
            </a:r>
            <a:br>
              <a:rPr lang="en-US" dirty="0" smtClean="0"/>
            </a:br>
            <a:r>
              <a:rPr lang="en-US" sz="2800" dirty="0" smtClean="0"/>
              <a:t>(Directed Binary Graph)</a:t>
            </a:r>
            <a:endParaRPr lang="en-US" sz="6600" dirty="0"/>
          </a:p>
        </p:txBody>
      </p:sp>
      <p:sp>
        <p:nvSpPr>
          <p:cNvPr id="5" name="TextBox 4"/>
          <p:cNvSpPr txBox="1"/>
          <p:nvPr/>
        </p:nvSpPr>
        <p:spPr>
          <a:xfrm>
            <a:off x="1338988" y="5712075"/>
            <a:ext cx="69213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Edges are binary variables indicating presence/absence of directed relationship.      (Ex: “is the son/daughter of…”)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71373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weightedgraphex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533" y="1725989"/>
            <a:ext cx="6876924" cy="4205844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609600" y="152400"/>
            <a:ext cx="82296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ts val="5800"/>
              </a:lnSpc>
              <a:spcBef>
                <a:spcPct val="0"/>
              </a:spcBef>
              <a:buNone/>
              <a:defRPr sz="5400" kern="120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 dirty="0" smtClean="0"/>
              <a:t>Graph Diagram</a:t>
            </a:r>
            <a:br>
              <a:rPr lang="en-US" dirty="0" smtClean="0"/>
            </a:br>
            <a:r>
              <a:rPr lang="en-US" sz="2800" dirty="0" smtClean="0"/>
              <a:t>(Weighted Graph)</a:t>
            </a:r>
            <a:endParaRPr lang="en-US" sz="6600" dirty="0"/>
          </a:p>
        </p:txBody>
      </p:sp>
      <p:sp>
        <p:nvSpPr>
          <p:cNvPr id="6" name="TextBox 5"/>
          <p:cNvSpPr txBox="1"/>
          <p:nvPr/>
        </p:nvSpPr>
        <p:spPr>
          <a:xfrm>
            <a:off x="1186533" y="5770040"/>
            <a:ext cx="71281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Edges are ordinal or continuous variables indicating strength of relationship   (Ex: “$ amount of trade between”)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724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Examples of Networks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Ø"/>
            </a:pPr>
            <a:r>
              <a:rPr lang="en-US" dirty="0" smtClean="0"/>
              <a:t>Social</a:t>
            </a:r>
          </a:p>
          <a:p>
            <a:pPr lvl="1">
              <a:buFont typeface="Wingdings" charset="2"/>
              <a:buChar char="Ø"/>
            </a:pPr>
            <a:r>
              <a:rPr lang="en-US" sz="1800" dirty="0" smtClean="0"/>
              <a:t>Personal affinity (friendship, respect, trust)</a:t>
            </a:r>
          </a:p>
          <a:p>
            <a:pPr lvl="1">
              <a:buFont typeface="Wingdings" charset="2"/>
              <a:buChar char="Ø"/>
            </a:pPr>
            <a:r>
              <a:rPr lang="en-US" sz="1800" dirty="0" smtClean="0"/>
              <a:t>Interaction (phone records, email records, </a:t>
            </a:r>
            <a:r>
              <a:rPr lang="en-US" sz="1800" dirty="0" err="1" smtClean="0"/>
              <a:t>etc</a:t>
            </a:r>
            <a:r>
              <a:rPr lang="en-US" sz="1800" dirty="0" smtClean="0"/>
              <a:t>)</a:t>
            </a:r>
          </a:p>
          <a:p>
            <a:pPr lvl="1">
              <a:buFont typeface="Wingdings" charset="2"/>
              <a:buChar char="Ø"/>
            </a:pPr>
            <a:r>
              <a:rPr lang="en-US" sz="1800" dirty="0" smtClean="0"/>
              <a:t>Organizational (managerial networks, organizational maps)</a:t>
            </a:r>
          </a:p>
          <a:p>
            <a:pPr lvl="1">
              <a:buFont typeface="Wingdings" charset="2"/>
              <a:buChar char="Ø"/>
            </a:pPr>
            <a:r>
              <a:rPr lang="en-US" sz="1800" dirty="0" smtClean="0"/>
              <a:t>Affiliation (links to social events, clubs, or organizations)</a:t>
            </a:r>
          </a:p>
          <a:p>
            <a:pPr lvl="1">
              <a:buFont typeface="Wingdings" charset="2"/>
              <a:buChar char="Ø"/>
            </a:pPr>
            <a:r>
              <a:rPr lang="en-US" sz="1800" dirty="0" smtClean="0"/>
              <a:t>Genealogy </a:t>
            </a:r>
            <a:r>
              <a:rPr lang="en-US" sz="1800" dirty="0"/>
              <a:t>(family trees, kinship</a:t>
            </a:r>
            <a:r>
              <a:rPr lang="en-US" sz="1800" dirty="0" smtClean="0"/>
              <a:t>)</a:t>
            </a:r>
          </a:p>
          <a:p>
            <a:pPr>
              <a:buFont typeface="Wingdings" charset="2"/>
              <a:buChar char="Ø"/>
            </a:pPr>
            <a:r>
              <a:rPr lang="en-US" dirty="0" smtClean="0"/>
              <a:t>Financial/Political</a:t>
            </a:r>
          </a:p>
          <a:p>
            <a:pPr lvl="1">
              <a:buFont typeface="Wingdings" charset="2"/>
              <a:buChar char="Ø"/>
            </a:pPr>
            <a:r>
              <a:rPr lang="en-US" sz="1800" dirty="0" smtClean="0"/>
              <a:t>Trade networks</a:t>
            </a:r>
          </a:p>
          <a:p>
            <a:pPr lvl="1">
              <a:buFont typeface="Wingdings" charset="2"/>
              <a:buChar char="Ø"/>
            </a:pPr>
            <a:r>
              <a:rPr lang="en-US" sz="1800" dirty="0" smtClean="0"/>
              <a:t>Business transactions, lending</a:t>
            </a:r>
          </a:p>
          <a:p>
            <a:pPr>
              <a:buFont typeface="Wingdings" charset="2"/>
              <a:buChar char="Ø"/>
            </a:pPr>
            <a:r>
              <a:rPr lang="en-US" dirty="0" smtClean="0"/>
              <a:t>Transportation/Logistics</a:t>
            </a:r>
          </a:p>
          <a:p>
            <a:pPr lvl="1">
              <a:buFont typeface="Wingdings" charset="2"/>
              <a:buChar char="Ø"/>
            </a:pPr>
            <a:r>
              <a:rPr lang="en-US" sz="1800" dirty="0" smtClean="0"/>
              <a:t>Manufacturing, warehousing, and retail networks</a:t>
            </a:r>
          </a:p>
          <a:p>
            <a:pPr lvl="1">
              <a:buFont typeface="Wingdings" charset="2"/>
              <a:buChar char="Ø"/>
            </a:pPr>
            <a:r>
              <a:rPr lang="en-US" sz="1800" dirty="0" smtClean="0"/>
              <a:t>Highway and road systems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93565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Pop Quiz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Are the following networks weighted or unweighted?</a:t>
            </a:r>
          </a:p>
          <a:p>
            <a:pPr marL="0" indent="0">
              <a:buNone/>
            </a:pPr>
            <a:endParaRPr lang="en-US" dirty="0" smtClean="0"/>
          </a:p>
          <a:p>
            <a:pPr marL="457200" indent="-457200">
              <a:buFont typeface="+mj-lt"/>
              <a:buAutoNum type="alphaUcPeriod"/>
            </a:pPr>
            <a:r>
              <a:rPr lang="en-US" dirty="0" smtClean="0"/>
              <a:t>A graph that links people together if they have the same birthday 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 smtClean="0"/>
              <a:t>A graph that links people together by the number of mutual friends they have</a:t>
            </a:r>
          </a:p>
          <a:p>
            <a:pPr marL="457200" indent="-457200">
              <a:buFont typeface="+mj-lt"/>
              <a:buAutoNum type="alphaUcPeriod"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Is the following network directed or undirected?</a:t>
            </a:r>
          </a:p>
          <a:p>
            <a:pPr marL="0" indent="0">
              <a:buNone/>
            </a:pPr>
            <a:endParaRPr lang="en-US" dirty="0" smtClean="0"/>
          </a:p>
          <a:p>
            <a:pPr marL="457200" indent="-457200">
              <a:buAutoNum type="alphaUcPeriod"/>
            </a:pPr>
            <a:r>
              <a:rPr lang="en-US" dirty="0" smtClean="0"/>
              <a:t>A network that shows how universities transfer students to other universities</a:t>
            </a:r>
          </a:p>
        </p:txBody>
      </p:sp>
    </p:spTree>
    <p:extLst>
      <p:ext uri="{BB962C8B-B14F-4D97-AF65-F5344CB8AC3E}">
        <p14:creationId xmlns:p14="http://schemas.microsoft.com/office/powerpoint/2010/main" val="4570392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Statistical Considerations</a:t>
            </a:r>
            <a:br>
              <a:rPr lang="en-US" dirty="0" smtClean="0"/>
            </a:br>
            <a:r>
              <a:rPr lang="en-US" dirty="0" smtClean="0"/>
              <a:t>for</a:t>
            </a:r>
            <a:br>
              <a:rPr lang="en-US" dirty="0" smtClean="0"/>
            </a:br>
            <a:r>
              <a:rPr lang="en-US" dirty="0" smtClean="0"/>
              <a:t> Network data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Sampling, Independence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42456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Sampling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Ø"/>
            </a:pPr>
            <a:endParaRPr lang="en-US" dirty="0" smtClean="0"/>
          </a:p>
          <a:p>
            <a:pPr>
              <a:buFont typeface="Wingdings" charset="2"/>
              <a:buChar char="Ø"/>
            </a:pPr>
            <a:r>
              <a:rPr lang="en-US" dirty="0" smtClean="0"/>
              <a:t>Suppose you’re studying a massive network.</a:t>
            </a:r>
          </a:p>
          <a:p>
            <a:pPr>
              <a:lnSpc>
                <a:spcPct val="150000"/>
              </a:lnSpc>
              <a:buFont typeface="Wingdings" charset="2"/>
              <a:buChar char="Ø"/>
            </a:pPr>
            <a:r>
              <a:rPr lang="en-US" dirty="0" smtClean="0"/>
              <a:t>How do you collect data to support your analysis?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188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Snowball sampling	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Ø"/>
            </a:pPr>
            <a:r>
              <a:rPr lang="en-US" sz="2800" dirty="0" smtClean="0"/>
              <a:t>Data often collected via snowball sampling.</a:t>
            </a:r>
          </a:p>
          <a:p>
            <a:pPr lvl="1">
              <a:buFont typeface="Wingdings" charset="2"/>
              <a:buChar char="Ø"/>
            </a:pPr>
            <a:r>
              <a:rPr lang="en-US" sz="1800" dirty="0" smtClean="0"/>
              <a:t>Select few individuals</a:t>
            </a:r>
          </a:p>
          <a:p>
            <a:pPr lvl="1">
              <a:buFont typeface="Wingdings" charset="2"/>
              <a:buChar char="Ø"/>
            </a:pPr>
            <a:r>
              <a:rPr lang="en-US" sz="1800" dirty="0" smtClean="0"/>
              <a:t>Follow their ties/links to new individuals</a:t>
            </a:r>
          </a:p>
          <a:p>
            <a:pPr lvl="1">
              <a:buFont typeface="Wingdings" charset="2"/>
              <a:buChar char="Ø"/>
            </a:pPr>
            <a:r>
              <a:rPr lang="en-US" sz="1800" dirty="0" smtClean="0"/>
              <a:t>Follow ties/links of new individuals</a:t>
            </a:r>
          </a:p>
          <a:p>
            <a:pPr lvl="1">
              <a:buFont typeface="Wingdings" charset="2"/>
              <a:buChar char="Ø"/>
            </a:pPr>
            <a:r>
              <a:rPr lang="is-IS" sz="1800" dirty="0" smtClean="0"/>
              <a:t>…Not so random...</a:t>
            </a:r>
          </a:p>
          <a:p>
            <a:pPr>
              <a:buFont typeface="Wingdings" charset="2"/>
              <a:buChar char="Ø"/>
            </a:pPr>
            <a:r>
              <a:rPr lang="en-US" dirty="0" smtClean="0"/>
              <a:t>Advantages</a:t>
            </a:r>
          </a:p>
          <a:p>
            <a:pPr lvl="1">
              <a:buFont typeface="Wingdings" charset="2"/>
              <a:buChar char="Ø"/>
            </a:pPr>
            <a:r>
              <a:rPr lang="en-US" sz="1800" dirty="0" smtClean="0"/>
              <a:t>Great for hidden populations </a:t>
            </a:r>
          </a:p>
          <a:p>
            <a:pPr lvl="1">
              <a:buFont typeface="Wingdings" charset="2"/>
              <a:buChar char="Ø"/>
            </a:pPr>
            <a:r>
              <a:rPr lang="en-US" sz="1800" dirty="0" smtClean="0"/>
              <a:t>Or when trust needed to collect info</a:t>
            </a:r>
          </a:p>
          <a:p>
            <a:pPr>
              <a:buFont typeface="Wingdings" charset="2"/>
              <a:buChar char="Ø"/>
            </a:pPr>
            <a:r>
              <a:rPr lang="en-US" dirty="0" smtClean="0"/>
              <a:t>Disadvantages</a:t>
            </a:r>
          </a:p>
          <a:p>
            <a:pPr lvl="1">
              <a:buFont typeface="Wingdings" charset="2"/>
              <a:buChar char="Ø"/>
            </a:pPr>
            <a:r>
              <a:rPr lang="en-US" sz="1800" dirty="0" smtClean="0"/>
              <a:t>Bias! towards initial set of individuals.</a:t>
            </a:r>
          </a:p>
          <a:p>
            <a:pPr lvl="1">
              <a:buFont typeface="Wingdings" charset="2"/>
              <a:buChar char="Ø"/>
            </a:pPr>
            <a:r>
              <a:rPr lang="en-US" sz="1800" dirty="0" smtClean="0"/>
              <a:t>Potential for inaccurate referrals</a:t>
            </a:r>
          </a:p>
          <a:p>
            <a:pPr lvl="1">
              <a:buFont typeface="Wingdings" charset="2"/>
              <a:buChar char="Ø"/>
            </a:pPr>
            <a:r>
              <a:rPr lang="en-US" sz="1800" dirty="0" smtClean="0"/>
              <a:t>Most imp: Doesn’t tell you about true population distribution.</a:t>
            </a:r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18040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Independence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0" indent="0" algn="ctr">
              <a:buNone/>
            </a:pPr>
            <a:r>
              <a:rPr lang="en-US" dirty="0" smtClean="0"/>
              <a:t>What independence??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885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Network Visualization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One of the primary types of network analyses!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27686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Sample of The Internet	</a:t>
            </a:r>
            <a:endParaRPr lang="en-US" dirty="0"/>
          </a:p>
        </p:txBody>
      </p:sp>
      <p:pic>
        <p:nvPicPr>
          <p:cNvPr id="4" name="Picture 2" descr="hal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27" b="15627"/>
          <a:stretch>
            <a:fillRect/>
          </a:stretch>
        </p:blipFill>
        <p:spPr bwMode="auto">
          <a:xfrm>
            <a:off x="457200" y="1698646"/>
            <a:ext cx="8229600" cy="452596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06123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of The Internet	</a:t>
            </a:r>
          </a:p>
        </p:txBody>
      </p:sp>
      <p:pic>
        <p:nvPicPr>
          <p:cNvPr id="4" name="Content Placeholder 3" descr="internet.png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502" b="22502"/>
          <a:stretch>
            <a:fillRect/>
          </a:stretch>
        </p:blipFill>
        <p:spPr>
          <a:xfrm>
            <a:off x="457200" y="1718335"/>
            <a:ext cx="8229600" cy="4525963"/>
          </a:xfrm>
        </p:spPr>
      </p:pic>
    </p:spTree>
    <p:extLst>
      <p:ext uri="{BB962C8B-B14F-4D97-AF65-F5344CB8AC3E}">
        <p14:creationId xmlns:p14="http://schemas.microsoft.com/office/powerpoint/2010/main" val="32064505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90720"/>
            <a:ext cx="8229600" cy="1600200"/>
          </a:xfrm>
        </p:spPr>
        <p:txBody>
          <a:bodyPr/>
          <a:lstStyle/>
          <a:p>
            <a:r>
              <a:rPr lang="en-US" dirty="0" smtClean="0"/>
              <a:t>Air Transportation</a:t>
            </a:r>
            <a:endParaRPr lang="en-US" dirty="0"/>
          </a:p>
        </p:txBody>
      </p:sp>
      <p:pic>
        <p:nvPicPr>
          <p:cNvPr id="8" name="Content Placeholder 7" descr="airlinesUS.jpg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90" t="1740" r="-13160" b="6073"/>
          <a:stretch/>
        </p:blipFill>
        <p:spPr>
          <a:xfrm>
            <a:off x="457200" y="1600200"/>
            <a:ext cx="8381916" cy="4800432"/>
          </a:xfrm>
        </p:spPr>
      </p:pic>
    </p:spTree>
    <p:extLst>
      <p:ext uri="{BB962C8B-B14F-4D97-AF65-F5344CB8AC3E}">
        <p14:creationId xmlns:p14="http://schemas.microsoft.com/office/powerpoint/2010/main" val="20961940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02741"/>
            <a:ext cx="8229600" cy="1600200"/>
          </a:xfrm>
        </p:spPr>
        <p:txBody>
          <a:bodyPr/>
          <a:lstStyle/>
          <a:p>
            <a:r>
              <a:rPr lang="en-US" dirty="0" smtClean="0"/>
              <a:t>Layout is important!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 descr="Screen Shot 2016-02-09 at 9.44.01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00" y="2549278"/>
            <a:ext cx="4235201" cy="3769415"/>
          </a:xfrm>
          <a:prstGeom prst="rect">
            <a:avLst/>
          </a:prstGeom>
        </p:spPr>
      </p:pic>
      <p:pic>
        <p:nvPicPr>
          <p:cNvPr id="7" name="Picture 6" descr="Screen Shot 2016-02-09 at 9.46.57 A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5314" y="2458481"/>
            <a:ext cx="3931966" cy="395100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024046" y="3947270"/>
            <a:ext cx="8353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vs.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177439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Considerations for Network Layout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Ø"/>
            </a:pPr>
            <a:r>
              <a:rPr lang="en-US" dirty="0" smtClean="0"/>
              <a:t>Edge lengths</a:t>
            </a:r>
          </a:p>
          <a:p>
            <a:pPr>
              <a:buFont typeface="Wingdings" charset="2"/>
              <a:buChar char="Ø"/>
            </a:pPr>
            <a:endParaRPr lang="en-US" dirty="0"/>
          </a:p>
          <a:p>
            <a:pPr>
              <a:buFont typeface="Wingdings" charset="2"/>
              <a:buChar char="Ø"/>
            </a:pPr>
            <a:endParaRPr lang="en-US" dirty="0" smtClean="0"/>
          </a:p>
          <a:p>
            <a:pPr>
              <a:buFont typeface="Wingdings" charset="2"/>
              <a:buChar char="Ø"/>
            </a:pPr>
            <a:endParaRPr lang="en-US" dirty="0" smtClean="0"/>
          </a:p>
          <a:p>
            <a:pPr>
              <a:buFont typeface="Wingdings" charset="2"/>
              <a:buChar char="Ø"/>
            </a:pPr>
            <a:r>
              <a:rPr lang="en-US" dirty="0" smtClean="0"/>
              <a:t>Edge crossings</a:t>
            </a:r>
          </a:p>
          <a:p>
            <a:pPr>
              <a:buFont typeface="Wingdings" charset="2"/>
              <a:buChar char="Ø"/>
            </a:pPr>
            <a:endParaRPr lang="en-US" dirty="0"/>
          </a:p>
          <a:p>
            <a:pPr>
              <a:buFont typeface="Wingdings" charset="2"/>
              <a:buChar char="Ø"/>
            </a:pPr>
            <a:endParaRPr lang="en-US" dirty="0" smtClean="0"/>
          </a:p>
          <a:p>
            <a:pPr>
              <a:buFont typeface="Wingdings" charset="2"/>
              <a:buChar char="Ø"/>
            </a:pPr>
            <a:endParaRPr lang="en-US" dirty="0" smtClean="0"/>
          </a:p>
          <a:p>
            <a:pPr>
              <a:buFont typeface="Wingdings" charset="2"/>
              <a:buChar char="Ø"/>
            </a:pPr>
            <a:r>
              <a:rPr lang="en-US" dirty="0" smtClean="0"/>
              <a:t>Node-edge overlap</a:t>
            </a:r>
            <a:endParaRPr lang="en-US" dirty="0"/>
          </a:p>
        </p:txBody>
      </p:sp>
      <p:grpSp>
        <p:nvGrpSpPr>
          <p:cNvPr id="4" name="Group 41"/>
          <p:cNvGrpSpPr>
            <a:grpSpLocks/>
          </p:cNvGrpSpPr>
          <p:nvPr/>
        </p:nvGrpSpPr>
        <p:grpSpPr bwMode="auto">
          <a:xfrm>
            <a:off x="3124200" y="3606966"/>
            <a:ext cx="838200" cy="1219200"/>
            <a:chOff x="3504" y="1968"/>
            <a:chExt cx="528" cy="768"/>
          </a:xfrm>
          <a:solidFill>
            <a:schemeClr val="accent1"/>
          </a:solidFill>
        </p:grpSpPr>
        <p:sp>
          <p:nvSpPr>
            <p:cNvPr id="5" name="Oval 42"/>
            <p:cNvSpPr>
              <a:spLocks noChangeArrowheads="1"/>
            </p:cNvSpPr>
            <p:nvPr/>
          </p:nvSpPr>
          <p:spPr bwMode="auto">
            <a:xfrm rot="-5400000">
              <a:off x="3504" y="2592"/>
              <a:ext cx="144" cy="144"/>
            </a:xfrm>
            <a:prstGeom prst="ellipse">
              <a:avLst/>
            </a:prstGeom>
            <a:grp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" name="Oval 43"/>
            <p:cNvSpPr>
              <a:spLocks noChangeArrowheads="1"/>
            </p:cNvSpPr>
            <p:nvPr/>
          </p:nvSpPr>
          <p:spPr bwMode="auto">
            <a:xfrm rot="-5400000">
              <a:off x="3888" y="1968"/>
              <a:ext cx="144" cy="144"/>
            </a:xfrm>
            <a:prstGeom prst="ellipse">
              <a:avLst/>
            </a:prstGeom>
            <a:grp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cxnSp>
          <p:nvCxnSpPr>
            <p:cNvPr id="7" name="AutoShape 44"/>
            <p:cNvCxnSpPr>
              <a:cxnSpLocks noChangeShapeType="1"/>
              <a:stCxn id="5" idx="6"/>
              <a:endCxn id="9" idx="2"/>
            </p:cNvCxnSpPr>
            <p:nvPr/>
          </p:nvCxnSpPr>
          <p:spPr bwMode="auto">
            <a:xfrm flipV="1">
              <a:off x="3576" y="2316"/>
              <a:ext cx="0" cy="264"/>
            </a:xfrm>
            <a:prstGeom prst="straightConnector1">
              <a:avLst/>
            </a:prstGeom>
            <a:grp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8" name="AutoShape 45"/>
            <p:cNvCxnSpPr>
              <a:cxnSpLocks noChangeShapeType="1"/>
              <a:stCxn id="9" idx="5"/>
              <a:endCxn id="6" idx="0"/>
            </p:cNvCxnSpPr>
            <p:nvPr/>
          </p:nvCxnSpPr>
          <p:spPr bwMode="auto">
            <a:xfrm flipV="1">
              <a:off x="3638" y="2040"/>
              <a:ext cx="238" cy="141"/>
            </a:xfrm>
            <a:prstGeom prst="straightConnector1">
              <a:avLst/>
            </a:prstGeom>
            <a:grp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9" name="Oval 46"/>
            <p:cNvSpPr>
              <a:spLocks noChangeArrowheads="1"/>
            </p:cNvSpPr>
            <p:nvPr/>
          </p:nvSpPr>
          <p:spPr bwMode="auto">
            <a:xfrm rot="-5400000">
              <a:off x="3504" y="2160"/>
              <a:ext cx="144" cy="144"/>
            </a:xfrm>
            <a:prstGeom prst="ellipse">
              <a:avLst/>
            </a:prstGeom>
            <a:grp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" name="Oval 47"/>
            <p:cNvSpPr>
              <a:spLocks noChangeArrowheads="1"/>
            </p:cNvSpPr>
            <p:nvPr/>
          </p:nvSpPr>
          <p:spPr bwMode="auto">
            <a:xfrm rot="-5400000">
              <a:off x="3888" y="2352"/>
              <a:ext cx="144" cy="144"/>
            </a:xfrm>
            <a:prstGeom prst="ellipse">
              <a:avLst/>
            </a:prstGeom>
            <a:grp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cxnSp>
          <p:nvCxnSpPr>
            <p:cNvPr id="11" name="AutoShape 48"/>
            <p:cNvCxnSpPr>
              <a:cxnSpLocks noChangeShapeType="1"/>
              <a:stCxn id="5" idx="5"/>
              <a:endCxn id="10" idx="0"/>
            </p:cNvCxnSpPr>
            <p:nvPr/>
          </p:nvCxnSpPr>
          <p:spPr bwMode="auto">
            <a:xfrm flipV="1">
              <a:off x="3638" y="2424"/>
              <a:ext cx="238" cy="189"/>
            </a:xfrm>
            <a:prstGeom prst="straightConnector1">
              <a:avLst/>
            </a:prstGeom>
            <a:grp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2" name="AutoShape 49"/>
            <p:cNvCxnSpPr>
              <a:cxnSpLocks noChangeShapeType="1"/>
              <a:stCxn id="9" idx="4"/>
              <a:endCxn id="10" idx="7"/>
            </p:cNvCxnSpPr>
            <p:nvPr/>
          </p:nvCxnSpPr>
          <p:spPr bwMode="auto">
            <a:xfrm>
              <a:off x="3660" y="2232"/>
              <a:ext cx="237" cy="141"/>
            </a:xfrm>
            <a:prstGeom prst="straightConnector1">
              <a:avLst/>
            </a:prstGeom>
            <a:grp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</p:grpSp>
      <p:grpSp>
        <p:nvGrpSpPr>
          <p:cNvPr id="13" name="Group 61"/>
          <p:cNvGrpSpPr>
            <a:grpSpLocks/>
          </p:cNvGrpSpPr>
          <p:nvPr/>
        </p:nvGrpSpPr>
        <p:grpSpPr bwMode="auto">
          <a:xfrm>
            <a:off x="6376593" y="3606965"/>
            <a:ext cx="838200" cy="1143000"/>
            <a:chOff x="4224" y="816"/>
            <a:chExt cx="528" cy="720"/>
          </a:xfrm>
          <a:solidFill>
            <a:srgbClr val="6076B4"/>
          </a:solidFill>
        </p:grpSpPr>
        <p:sp>
          <p:nvSpPr>
            <p:cNvPr id="14" name="Oval 52"/>
            <p:cNvSpPr>
              <a:spLocks noChangeArrowheads="1"/>
            </p:cNvSpPr>
            <p:nvPr/>
          </p:nvSpPr>
          <p:spPr bwMode="auto">
            <a:xfrm rot="-5400000">
              <a:off x="4224" y="1248"/>
              <a:ext cx="144" cy="144"/>
            </a:xfrm>
            <a:prstGeom prst="ellipse">
              <a:avLst/>
            </a:prstGeom>
            <a:grp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5" name="Oval 53"/>
            <p:cNvSpPr>
              <a:spLocks noChangeArrowheads="1"/>
            </p:cNvSpPr>
            <p:nvPr/>
          </p:nvSpPr>
          <p:spPr bwMode="auto">
            <a:xfrm rot="-5400000">
              <a:off x="4608" y="1392"/>
              <a:ext cx="144" cy="144"/>
            </a:xfrm>
            <a:prstGeom prst="ellipse">
              <a:avLst/>
            </a:prstGeom>
            <a:grp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cxnSp>
          <p:nvCxnSpPr>
            <p:cNvPr id="16" name="AutoShape 54"/>
            <p:cNvCxnSpPr>
              <a:cxnSpLocks noChangeShapeType="1"/>
              <a:stCxn id="14" idx="6"/>
              <a:endCxn id="18" idx="2"/>
            </p:cNvCxnSpPr>
            <p:nvPr/>
          </p:nvCxnSpPr>
          <p:spPr bwMode="auto">
            <a:xfrm flipV="1">
              <a:off x="4296" y="972"/>
              <a:ext cx="0" cy="264"/>
            </a:xfrm>
            <a:prstGeom prst="straightConnector1">
              <a:avLst/>
            </a:prstGeom>
            <a:grp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7" name="AutoShape 55"/>
            <p:cNvCxnSpPr>
              <a:cxnSpLocks noChangeShapeType="1"/>
              <a:stCxn id="18" idx="3"/>
              <a:endCxn id="15" idx="7"/>
            </p:cNvCxnSpPr>
            <p:nvPr/>
          </p:nvCxnSpPr>
          <p:spPr bwMode="auto">
            <a:xfrm>
              <a:off x="4358" y="938"/>
              <a:ext cx="259" cy="475"/>
            </a:xfrm>
            <a:prstGeom prst="straightConnector1">
              <a:avLst/>
            </a:prstGeom>
            <a:grp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18" name="Oval 56"/>
            <p:cNvSpPr>
              <a:spLocks noChangeArrowheads="1"/>
            </p:cNvSpPr>
            <p:nvPr/>
          </p:nvSpPr>
          <p:spPr bwMode="auto">
            <a:xfrm rot="-5400000">
              <a:off x="4224" y="816"/>
              <a:ext cx="144" cy="144"/>
            </a:xfrm>
            <a:prstGeom prst="ellipse">
              <a:avLst/>
            </a:prstGeom>
            <a:grp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9" name="Oval 57"/>
            <p:cNvSpPr>
              <a:spLocks noChangeArrowheads="1"/>
            </p:cNvSpPr>
            <p:nvPr/>
          </p:nvSpPr>
          <p:spPr bwMode="auto">
            <a:xfrm rot="-5400000">
              <a:off x="4608" y="1008"/>
              <a:ext cx="144" cy="144"/>
            </a:xfrm>
            <a:prstGeom prst="ellipse">
              <a:avLst/>
            </a:prstGeom>
            <a:grp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cxnSp>
          <p:nvCxnSpPr>
            <p:cNvPr id="20" name="AutoShape 58"/>
            <p:cNvCxnSpPr>
              <a:cxnSpLocks noChangeShapeType="1"/>
              <a:stCxn id="14" idx="5"/>
              <a:endCxn id="19" idx="0"/>
            </p:cNvCxnSpPr>
            <p:nvPr/>
          </p:nvCxnSpPr>
          <p:spPr bwMode="auto">
            <a:xfrm flipV="1">
              <a:off x="4358" y="1080"/>
              <a:ext cx="238" cy="189"/>
            </a:xfrm>
            <a:prstGeom prst="straightConnector1">
              <a:avLst/>
            </a:prstGeom>
            <a:grp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1" name="AutoShape 59"/>
            <p:cNvCxnSpPr>
              <a:cxnSpLocks noChangeShapeType="1"/>
              <a:stCxn id="18" idx="4"/>
              <a:endCxn id="19" idx="7"/>
            </p:cNvCxnSpPr>
            <p:nvPr/>
          </p:nvCxnSpPr>
          <p:spPr bwMode="auto">
            <a:xfrm>
              <a:off x="4380" y="888"/>
              <a:ext cx="237" cy="141"/>
            </a:xfrm>
            <a:prstGeom prst="straightConnector1">
              <a:avLst/>
            </a:prstGeom>
            <a:grp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</p:grpSp>
      <p:sp>
        <p:nvSpPr>
          <p:cNvPr id="22" name="TextBox 21"/>
          <p:cNvSpPr txBox="1"/>
          <p:nvPr/>
        </p:nvSpPr>
        <p:spPr>
          <a:xfrm>
            <a:off x="4846999" y="4026065"/>
            <a:ext cx="6438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+mj-lt"/>
              </a:rPr>
              <a:t>vs.</a:t>
            </a:r>
            <a:endParaRPr lang="en-US" sz="2800" dirty="0">
              <a:latin typeface="+mj-lt"/>
            </a:endParaRPr>
          </a:p>
        </p:txBody>
      </p:sp>
      <p:grpSp>
        <p:nvGrpSpPr>
          <p:cNvPr id="23" name="Group 39"/>
          <p:cNvGrpSpPr>
            <a:grpSpLocks/>
          </p:cNvGrpSpPr>
          <p:nvPr/>
        </p:nvGrpSpPr>
        <p:grpSpPr bwMode="auto">
          <a:xfrm>
            <a:off x="3115074" y="1858764"/>
            <a:ext cx="1143000" cy="1143000"/>
            <a:chOff x="3456" y="2016"/>
            <a:chExt cx="720" cy="720"/>
          </a:xfrm>
          <a:solidFill>
            <a:srgbClr val="6076B4"/>
          </a:solidFill>
        </p:grpSpPr>
        <p:sp>
          <p:nvSpPr>
            <p:cNvPr id="24" name="Oval 13"/>
            <p:cNvSpPr>
              <a:spLocks noChangeArrowheads="1"/>
            </p:cNvSpPr>
            <p:nvPr/>
          </p:nvSpPr>
          <p:spPr bwMode="auto">
            <a:xfrm rot="-5400000">
              <a:off x="3504" y="2592"/>
              <a:ext cx="144" cy="144"/>
            </a:xfrm>
            <a:prstGeom prst="ellipse">
              <a:avLst/>
            </a:prstGeom>
            <a:grp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5" name="Oval 14"/>
            <p:cNvSpPr>
              <a:spLocks noChangeArrowheads="1"/>
            </p:cNvSpPr>
            <p:nvPr/>
          </p:nvSpPr>
          <p:spPr bwMode="auto">
            <a:xfrm rot="16200000">
              <a:off x="4032" y="2112"/>
              <a:ext cx="144" cy="144"/>
            </a:xfrm>
            <a:prstGeom prst="ellipse">
              <a:avLst/>
            </a:prstGeom>
            <a:grp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cxnSp>
          <p:nvCxnSpPr>
            <p:cNvPr id="26" name="AutoShape 15"/>
            <p:cNvCxnSpPr>
              <a:cxnSpLocks noChangeShapeType="1"/>
              <a:stCxn id="24" idx="6"/>
              <a:endCxn id="28" idx="2"/>
            </p:cNvCxnSpPr>
            <p:nvPr/>
          </p:nvCxnSpPr>
          <p:spPr bwMode="auto">
            <a:xfrm flipH="1" flipV="1">
              <a:off x="3528" y="2160"/>
              <a:ext cx="48" cy="432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7" name="AutoShape 16"/>
            <p:cNvCxnSpPr>
              <a:cxnSpLocks noChangeShapeType="1"/>
              <a:stCxn id="28" idx="5"/>
              <a:endCxn id="25" idx="0"/>
            </p:cNvCxnSpPr>
            <p:nvPr/>
          </p:nvCxnSpPr>
          <p:spPr bwMode="auto">
            <a:xfrm>
              <a:off x="3579" y="2037"/>
              <a:ext cx="453" cy="147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28" name="Oval 17"/>
            <p:cNvSpPr>
              <a:spLocks noChangeArrowheads="1"/>
            </p:cNvSpPr>
            <p:nvPr/>
          </p:nvSpPr>
          <p:spPr bwMode="auto">
            <a:xfrm rot="16200000">
              <a:off x="3456" y="2016"/>
              <a:ext cx="144" cy="144"/>
            </a:xfrm>
            <a:prstGeom prst="ellipse">
              <a:avLst/>
            </a:prstGeom>
            <a:grp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9" name="Oval 18"/>
            <p:cNvSpPr>
              <a:spLocks noChangeArrowheads="1"/>
            </p:cNvSpPr>
            <p:nvPr/>
          </p:nvSpPr>
          <p:spPr bwMode="auto">
            <a:xfrm rot="16200000">
              <a:off x="3936" y="2544"/>
              <a:ext cx="144" cy="144"/>
            </a:xfrm>
            <a:prstGeom prst="ellipse">
              <a:avLst/>
            </a:prstGeom>
            <a:grp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cxnSp>
          <p:nvCxnSpPr>
            <p:cNvPr id="30" name="AutoShape 19"/>
            <p:cNvCxnSpPr>
              <a:cxnSpLocks noChangeShapeType="1"/>
              <a:stCxn id="24" idx="5"/>
              <a:endCxn id="29" idx="0"/>
            </p:cNvCxnSpPr>
            <p:nvPr/>
          </p:nvCxnSpPr>
          <p:spPr bwMode="auto">
            <a:xfrm>
              <a:off x="3627" y="2613"/>
              <a:ext cx="309" cy="3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31" name="AutoShape 20"/>
            <p:cNvCxnSpPr>
              <a:cxnSpLocks noChangeShapeType="1"/>
              <a:stCxn id="28" idx="4"/>
              <a:endCxn id="29" idx="7"/>
            </p:cNvCxnSpPr>
            <p:nvPr/>
          </p:nvCxnSpPr>
          <p:spPr bwMode="auto">
            <a:xfrm>
              <a:off x="3600" y="2088"/>
              <a:ext cx="357" cy="477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</p:grpSp>
      <p:sp>
        <p:nvSpPr>
          <p:cNvPr id="41" name="TextBox 40"/>
          <p:cNvSpPr txBox="1"/>
          <p:nvPr/>
        </p:nvSpPr>
        <p:spPr>
          <a:xfrm>
            <a:off x="4882770" y="2151477"/>
            <a:ext cx="6438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+mj-lt"/>
              </a:rPr>
              <a:t>vs.</a:t>
            </a:r>
            <a:endParaRPr lang="en-US" sz="2800" dirty="0">
              <a:latin typeface="+mj-lt"/>
            </a:endParaRPr>
          </a:p>
        </p:txBody>
      </p:sp>
      <p:sp>
        <p:nvSpPr>
          <p:cNvPr id="42" name="Oval 31"/>
          <p:cNvSpPr>
            <a:spLocks noChangeArrowheads="1"/>
          </p:cNvSpPr>
          <p:nvPr/>
        </p:nvSpPr>
        <p:spPr bwMode="auto">
          <a:xfrm rot="16200000">
            <a:off x="5684622" y="2786440"/>
            <a:ext cx="228600" cy="228600"/>
          </a:xfrm>
          <a:prstGeom prst="ellipse">
            <a:avLst/>
          </a:prstGeom>
          <a:solidFill>
            <a:srgbClr val="6076B4"/>
          </a:solidFill>
          <a:ln w="381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3" name="Oval 32"/>
          <p:cNvSpPr>
            <a:spLocks noChangeArrowheads="1"/>
          </p:cNvSpPr>
          <p:nvPr/>
        </p:nvSpPr>
        <p:spPr bwMode="auto">
          <a:xfrm rot="16200000">
            <a:off x="6980022" y="1948240"/>
            <a:ext cx="228600" cy="228600"/>
          </a:xfrm>
          <a:prstGeom prst="ellipse">
            <a:avLst/>
          </a:prstGeom>
          <a:solidFill>
            <a:srgbClr val="6076B4"/>
          </a:solidFill>
          <a:ln w="381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cxnSp>
        <p:nvCxnSpPr>
          <p:cNvPr id="44" name="AutoShape 33"/>
          <p:cNvCxnSpPr>
            <a:cxnSpLocks noChangeShapeType="1"/>
            <a:stCxn id="42" idx="6"/>
            <a:endCxn id="46" idx="1"/>
          </p:cNvCxnSpPr>
          <p:nvPr/>
        </p:nvCxnSpPr>
        <p:spPr bwMode="auto">
          <a:xfrm flipV="1">
            <a:off x="5798922" y="2295762"/>
            <a:ext cx="985978" cy="490678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45" name="AutoShape 34"/>
          <p:cNvCxnSpPr>
            <a:cxnSpLocks noChangeShapeType="1"/>
            <a:stCxn id="46" idx="5"/>
            <a:endCxn id="43" idx="0"/>
          </p:cNvCxnSpPr>
          <p:nvPr/>
        </p:nvCxnSpPr>
        <p:spPr bwMode="auto">
          <a:xfrm flipH="1" flipV="1">
            <a:off x="6960972" y="2062540"/>
            <a:ext cx="3175" cy="71438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46" name="Oval 35"/>
          <p:cNvSpPr>
            <a:spLocks noChangeArrowheads="1"/>
          </p:cNvSpPr>
          <p:nvPr/>
        </p:nvSpPr>
        <p:spPr bwMode="auto">
          <a:xfrm rot="16200000">
            <a:off x="6751422" y="2100640"/>
            <a:ext cx="228600" cy="228600"/>
          </a:xfrm>
          <a:prstGeom prst="ellipse">
            <a:avLst/>
          </a:prstGeom>
          <a:solidFill>
            <a:srgbClr val="6076B4"/>
          </a:solidFill>
          <a:ln w="381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" name="Oval 36"/>
          <p:cNvSpPr>
            <a:spLocks noChangeArrowheads="1"/>
          </p:cNvSpPr>
          <p:nvPr/>
        </p:nvSpPr>
        <p:spPr bwMode="auto">
          <a:xfrm rot="16200000">
            <a:off x="8504022" y="2253040"/>
            <a:ext cx="228600" cy="228600"/>
          </a:xfrm>
          <a:prstGeom prst="ellipse">
            <a:avLst/>
          </a:prstGeom>
          <a:solidFill>
            <a:srgbClr val="6076B4"/>
          </a:solidFill>
          <a:ln w="381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cxnSp>
        <p:nvCxnSpPr>
          <p:cNvPr id="48" name="AutoShape 37"/>
          <p:cNvCxnSpPr>
            <a:cxnSpLocks noChangeShapeType="1"/>
            <a:stCxn id="42" idx="5"/>
            <a:endCxn id="47" idx="0"/>
          </p:cNvCxnSpPr>
          <p:nvPr/>
        </p:nvCxnSpPr>
        <p:spPr bwMode="auto">
          <a:xfrm flipV="1">
            <a:off x="5879744" y="2367340"/>
            <a:ext cx="2624278" cy="452578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49" name="AutoShape 38"/>
          <p:cNvCxnSpPr>
            <a:cxnSpLocks noChangeShapeType="1"/>
            <a:stCxn id="46" idx="3"/>
            <a:endCxn id="47" idx="7"/>
          </p:cNvCxnSpPr>
          <p:nvPr/>
        </p:nvCxnSpPr>
        <p:spPr bwMode="auto">
          <a:xfrm flipV="1">
            <a:off x="6946544" y="2286518"/>
            <a:ext cx="1590956" cy="9244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51" name="Oval 65"/>
          <p:cNvSpPr>
            <a:spLocks noChangeArrowheads="1"/>
          </p:cNvSpPr>
          <p:nvPr/>
        </p:nvSpPr>
        <p:spPr bwMode="auto">
          <a:xfrm rot="16200000">
            <a:off x="2968848" y="6400800"/>
            <a:ext cx="228600" cy="228600"/>
          </a:xfrm>
          <a:prstGeom prst="ellipse">
            <a:avLst/>
          </a:prstGeom>
          <a:solidFill>
            <a:srgbClr val="6076B4"/>
          </a:solidFill>
          <a:ln w="381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cxnSp>
        <p:nvCxnSpPr>
          <p:cNvPr id="52" name="AutoShape 67"/>
          <p:cNvCxnSpPr>
            <a:cxnSpLocks noChangeShapeType="1"/>
            <a:stCxn id="51" idx="6"/>
            <a:endCxn id="53" idx="2"/>
          </p:cNvCxnSpPr>
          <p:nvPr/>
        </p:nvCxnSpPr>
        <p:spPr bwMode="auto">
          <a:xfrm flipV="1">
            <a:off x="3083148" y="5962650"/>
            <a:ext cx="0" cy="4191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53" name="Oval 69"/>
          <p:cNvSpPr>
            <a:spLocks noChangeArrowheads="1"/>
          </p:cNvSpPr>
          <p:nvPr/>
        </p:nvSpPr>
        <p:spPr bwMode="auto">
          <a:xfrm rot="16200000">
            <a:off x="2968848" y="5715000"/>
            <a:ext cx="228600" cy="228600"/>
          </a:xfrm>
          <a:prstGeom prst="ellipse">
            <a:avLst/>
          </a:prstGeom>
          <a:solidFill>
            <a:srgbClr val="6076B4"/>
          </a:solidFill>
          <a:ln w="381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4" name="Oval 70"/>
          <p:cNvSpPr>
            <a:spLocks noChangeArrowheads="1"/>
          </p:cNvSpPr>
          <p:nvPr/>
        </p:nvSpPr>
        <p:spPr bwMode="auto">
          <a:xfrm rot="16200000">
            <a:off x="4264248" y="6172200"/>
            <a:ext cx="228600" cy="228600"/>
          </a:xfrm>
          <a:prstGeom prst="ellipse">
            <a:avLst/>
          </a:prstGeom>
          <a:solidFill>
            <a:srgbClr val="6076B4"/>
          </a:solidFill>
          <a:ln w="381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cxnSp>
        <p:nvCxnSpPr>
          <p:cNvPr id="55" name="AutoShape 71"/>
          <p:cNvCxnSpPr>
            <a:cxnSpLocks noChangeShapeType="1"/>
            <a:stCxn id="51" idx="5"/>
            <a:endCxn id="54" idx="0"/>
          </p:cNvCxnSpPr>
          <p:nvPr/>
        </p:nvCxnSpPr>
        <p:spPr bwMode="auto">
          <a:xfrm flipV="1">
            <a:off x="3181573" y="6286500"/>
            <a:ext cx="1063625" cy="1476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56" name="AutoShape 72"/>
          <p:cNvCxnSpPr>
            <a:cxnSpLocks noChangeShapeType="1"/>
            <a:stCxn id="53" idx="3"/>
            <a:endCxn id="54" idx="7"/>
          </p:cNvCxnSpPr>
          <p:nvPr/>
        </p:nvCxnSpPr>
        <p:spPr bwMode="auto">
          <a:xfrm>
            <a:off x="3181573" y="5908675"/>
            <a:ext cx="1096963" cy="2968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57" name="Oval 66"/>
          <p:cNvSpPr>
            <a:spLocks noChangeArrowheads="1"/>
          </p:cNvSpPr>
          <p:nvPr/>
        </p:nvSpPr>
        <p:spPr bwMode="auto">
          <a:xfrm rot="16200000">
            <a:off x="3578448" y="5562600"/>
            <a:ext cx="228600" cy="228600"/>
          </a:xfrm>
          <a:prstGeom prst="ellipse">
            <a:avLst/>
          </a:prstGeom>
          <a:solidFill>
            <a:srgbClr val="6076B4"/>
          </a:solidFill>
          <a:ln w="381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8" name="Oval 74"/>
          <p:cNvSpPr>
            <a:spLocks noChangeArrowheads="1"/>
          </p:cNvSpPr>
          <p:nvPr/>
        </p:nvSpPr>
        <p:spPr bwMode="auto">
          <a:xfrm rot="16200000">
            <a:off x="4111848" y="5562600"/>
            <a:ext cx="228600" cy="228600"/>
          </a:xfrm>
          <a:prstGeom prst="ellipse">
            <a:avLst/>
          </a:prstGeom>
          <a:solidFill>
            <a:srgbClr val="6076B4"/>
          </a:solidFill>
          <a:ln w="381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cxnSp>
        <p:nvCxnSpPr>
          <p:cNvPr id="59" name="AutoShape 75"/>
          <p:cNvCxnSpPr>
            <a:cxnSpLocks noChangeShapeType="1"/>
            <a:stCxn id="57" idx="4"/>
            <a:endCxn id="58" idx="0"/>
          </p:cNvCxnSpPr>
          <p:nvPr/>
        </p:nvCxnSpPr>
        <p:spPr bwMode="auto">
          <a:xfrm>
            <a:off x="3826098" y="5676900"/>
            <a:ext cx="2667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60" name="AutoShape 76"/>
          <p:cNvCxnSpPr>
            <a:cxnSpLocks noChangeShapeType="1"/>
            <a:stCxn id="58" idx="2"/>
            <a:endCxn id="54" idx="6"/>
          </p:cNvCxnSpPr>
          <p:nvPr/>
        </p:nvCxnSpPr>
        <p:spPr bwMode="auto">
          <a:xfrm>
            <a:off x="4226148" y="5810250"/>
            <a:ext cx="152400" cy="342900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71" name="TextBox 70"/>
          <p:cNvSpPr txBox="1"/>
          <p:nvPr/>
        </p:nvSpPr>
        <p:spPr>
          <a:xfrm>
            <a:off x="4904637" y="5760292"/>
            <a:ext cx="6438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+mj-lt"/>
              </a:rPr>
              <a:t>vs.</a:t>
            </a:r>
            <a:endParaRPr lang="en-US" sz="2800" dirty="0">
              <a:latin typeface="+mj-lt"/>
            </a:endParaRPr>
          </a:p>
        </p:txBody>
      </p:sp>
      <p:sp>
        <p:nvSpPr>
          <p:cNvPr id="72" name="Oval 77"/>
          <p:cNvSpPr>
            <a:spLocks noChangeArrowheads="1"/>
          </p:cNvSpPr>
          <p:nvPr/>
        </p:nvSpPr>
        <p:spPr bwMode="auto">
          <a:xfrm rot="16200000">
            <a:off x="6033030" y="6207976"/>
            <a:ext cx="228600" cy="228600"/>
          </a:xfrm>
          <a:prstGeom prst="ellipse">
            <a:avLst/>
          </a:prstGeom>
          <a:solidFill>
            <a:srgbClr val="6076B4"/>
          </a:solidFill>
          <a:ln w="381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cxnSp>
        <p:nvCxnSpPr>
          <p:cNvPr id="73" name="AutoShape 78"/>
          <p:cNvCxnSpPr>
            <a:cxnSpLocks noChangeShapeType="1"/>
            <a:stCxn id="72" idx="6"/>
            <a:endCxn id="74" idx="2"/>
          </p:cNvCxnSpPr>
          <p:nvPr/>
        </p:nvCxnSpPr>
        <p:spPr bwMode="auto">
          <a:xfrm flipV="1">
            <a:off x="6147330" y="5826976"/>
            <a:ext cx="304800" cy="3810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74" name="Oval 79"/>
          <p:cNvSpPr>
            <a:spLocks noChangeArrowheads="1"/>
          </p:cNvSpPr>
          <p:nvPr/>
        </p:nvSpPr>
        <p:spPr bwMode="auto">
          <a:xfrm rot="16200000">
            <a:off x="6337830" y="5598376"/>
            <a:ext cx="228600" cy="228600"/>
          </a:xfrm>
          <a:prstGeom prst="ellipse">
            <a:avLst/>
          </a:prstGeom>
          <a:solidFill>
            <a:srgbClr val="6076B4"/>
          </a:solidFill>
          <a:ln w="381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5" name="Oval 80"/>
          <p:cNvSpPr>
            <a:spLocks noChangeArrowheads="1"/>
          </p:cNvSpPr>
          <p:nvPr/>
        </p:nvSpPr>
        <p:spPr bwMode="auto">
          <a:xfrm rot="16200000">
            <a:off x="7633230" y="6055576"/>
            <a:ext cx="228600" cy="228600"/>
          </a:xfrm>
          <a:prstGeom prst="ellipse">
            <a:avLst/>
          </a:prstGeom>
          <a:solidFill>
            <a:srgbClr val="6076B4"/>
          </a:solidFill>
          <a:ln w="381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cxnSp>
        <p:nvCxnSpPr>
          <p:cNvPr id="76" name="AutoShape 81"/>
          <p:cNvCxnSpPr>
            <a:cxnSpLocks noChangeShapeType="1"/>
          </p:cNvCxnSpPr>
          <p:nvPr/>
        </p:nvCxnSpPr>
        <p:spPr bwMode="auto">
          <a:xfrm flipV="1">
            <a:off x="6228152" y="6212598"/>
            <a:ext cx="1405078" cy="7157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77" name="AutoShape 82"/>
          <p:cNvCxnSpPr>
            <a:cxnSpLocks noChangeShapeType="1"/>
            <a:stCxn id="74" idx="3"/>
            <a:endCxn id="75" idx="7"/>
          </p:cNvCxnSpPr>
          <p:nvPr/>
        </p:nvCxnSpPr>
        <p:spPr bwMode="auto">
          <a:xfrm>
            <a:off x="6550555" y="5792051"/>
            <a:ext cx="1096963" cy="296863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78" name="Oval 84"/>
          <p:cNvSpPr>
            <a:spLocks noChangeArrowheads="1"/>
          </p:cNvSpPr>
          <p:nvPr/>
        </p:nvSpPr>
        <p:spPr bwMode="auto">
          <a:xfrm rot="16200000">
            <a:off x="6947430" y="5750776"/>
            <a:ext cx="228600" cy="228600"/>
          </a:xfrm>
          <a:prstGeom prst="ellipse">
            <a:avLst/>
          </a:prstGeom>
          <a:solidFill>
            <a:srgbClr val="6076B4"/>
          </a:solidFill>
          <a:ln w="381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9" name="Oval 85"/>
          <p:cNvSpPr>
            <a:spLocks noChangeArrowheads="1"/>
          </p:cNvSpPr>
          <p:nvPr/>
        </p:nvSpPr>
        <p:spPr bwMode="auto">
          <a:xfrm rot="16200000">
            <a:off x="7480830" y="5445976"/>
            <a:ext cx="228600" cy="228600"/>
          </a:xfrm>
          <a:prstGeom prst="ellipse">
            <a:avLst/>
          </a:prstGeom>
          <a:solidFill>
            <a:srgbClr val="6076B4"/>
          </a:solidFill>
          <a:ln w="381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cxnSp>
        <p:nvCxnSpPr>
          <p:cNvPr id="80" name="AutoShape 86"/>
          <p:cNvCxnSpPr>
            <a:cxnSpLocks noChangeShapeType="1"/>
            <a:stCxn id="78" idx="5"/>
            <a:endCxn id="79" idx="1"/>
          </p:cNvCxnSpPr>
          <p:nvPr/>
        </p:nvCxnSpPr>
        <p:spPr bwMode="auto">
          <a:xfrm flipV="1">
            <a:off x="7160155" y="5639651"/>
            <a:ext cx="334963" cy="1444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81" name="AutoShape 87"/>
          <p:cNvCxnSpPr>
            <a:cxnSpLocks noChangeShapeType="1"/>
            <a:stCxn id="79" idx="2"/>
            <a:endCxn id="75" idx="6"/>
          </p:cNvCxnSpPr>
          <p:nvPr/>
        </p:nvCxnSpPr>
        <p:spPr bwMode="auto">
          <a:xfrm>
            <a:off x="7595130" y="5693626"/>
            <a:ext cx="152400" cy="3429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9538533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Force-Directed Graph Drawing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Ø"/>
            </a:pPr>
            <a:r>
              <a:rPr lang="en-US" dirty="0" smtClean="0"/>
              <a:t>Family of algorithms designed to layout graphs</a:t>
            </a:r>
            <a:endParaRPr lang="en-US" dirty="0"/>
          </a:p>
          <a:p>
            <a:pPr>
              <a:buFont typeface="Wingdings" charset="2"/>
              <a:buChar char="Ø"/>
            </a:pPr>
            <a:endParaRPr lang="en-US" dirty="0" smtClean="0"/>
          </a:p>
          <a:p>
            <a:pPr>
              <a:buFont typeface="Wingdings" charset="2"/>
              <a:buChar char="Ø"/>
            </a:pPr>
            <a:r>
              <a:rPr lang="en-US" dirty="0" smtClean="0"/>
              <a:t>Some attractive force is placed on adjacent vertices while a repulsive force placed on all vertices. Then the </a:t>
            </a:r>
            <a:r>
              <a:rPr lang="en-US" i="1" dirty="0" smtClean="0"/>
              <a:t>energy</a:t>
            </a:r>
            <a:r>
              <a:rPr lang="en-US" dirty="0" smtClean="0"/>
              <a:t> of the system is minimized.</a:t>
            </a:r>
          </a:p>
          <a:p>
            <a:pPr>
              <a:buFont typeface="Wingdings" charset="2"/>
              <a:buChar char="Ø"/>
            </a:pPr>
            <a:endParaRPr lang="en-US" dirty="0" smtClean="0"/>
          </a:p>
          <a:p>
            <a:pPr>
              <a:buFont typeface="Wingdings" charset="2"/>
              <a:buChar char="Ø"/>
            </a:pPr>
            <a:r>
              <a:rPr lang="en-US" dirty="0" smtClean="0"/>
              <a:t>Examples in action:</a:t>
            </a:r>
          </a:p>
          <a:p>
            <a:pPr lvl="1">
              <a:buFont typeface="Wingdings" charset="2"/>
              <a:buChar char="Ø"/>
            </a:pPr>
            <a:r>
              <a:rPr lang="en-US" dirty="0">
                <a:hlinkClick r:id="rId2"/>
              </a:rPr>
              <a:t>http://www4.ncsu.edu/~</a:t>
            </a:r>
            <a:r>
              <a:rPr lang="en-US" dirty="0" smtClean="0">
                <a:hlinkClick r:id="rId2"/>
              </a:rPr>
              <a:t>slrace/FINetwork.html</a:t>
            </a:r>
            <a:endParaRPr lang="en-US" dirty="0" smtClean="0"/>
          </a:p>
          <a:p>
            <a:pPr lvl="1">
              <a:buFont typeface="Wingdings" charset="2"/>
              <a:buChar char="Ø"/>
            </a:pPr>
            <a:r>
              <a:rPr lang="en-US" dirty="0">
                <a:hlinkClick r:id="rId3"/>
              </a:rPr>
              <a:t>http://www4.ncsu.edu/~</a:t>
            </a:r>
            <a:r>
              <a:rPr lang="en-US" dirty="0" err="1">
                <a:hlinkClick r:id="rId3"/>
              </a:rPr>
              <a:t>slrace</a:t>
            </a:r>
            <a:r>
              <a:rPr lang="en-US" dirty="0">
                <a:hlinkClick r:id="rId3"/>
              </a:rPr>
              <a:t>/</a:t>
            </a:r>
            <a:r>
              <a:rPr lang="en-US" dirty="0" err="1">
                <a:hlinkClick r:id="rId3"/>
              </a:rPr>
              <a:t>facebook.html</a:t>
            </a:r>
            <a:endParaRPr lang="en-US" dirty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1929016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Force-Directed Graph Drawing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68103"/>
          </a:xfrm>
        </p:spPr>
        <p:txBody>
          <a:bodyPr/>
          <a:lstStyle/>
          <a:p>
            <a:pPr>
              <a:buFont typeface="Wingdings" charset="2"/>
              <a:buChar char="Ø"/>
            </a:pPr>
            <a:r>
              <a:rPr lang="en-US" dirty="0"/>
              <a:t>Advantages</a:t>
            </a:r>
          </a:p>
          <a:p>
            <a:pPr lvl="1">
              <a:buFont typeface="Wingdings" charset="2"/>
              <a:buChar char="Ø"/>
            </a:pPr>
            <a:r>
              <a:rPr lang="en-US" sz="2000" dirty="0"/>
              <a:t>Quality</a:t>
            </a:r>
          </a:p>
          <a:p>
            <a:pPr lvl="1">
              <a:buFont typeface="Wingdings" charset="2"/>
              <a:buChar char="Ø"/>
            </a:pPr>
            <a:r>
              <a:rPr lang="en-US" sz="2000" dirty="0"/>
              <a:t>Versatility</a:t>
            </a:r>
          </a:p>
          <a:p>
            <a:pPr lvl="1">
              <a:buFont typeface="Wingdings" charset="2"/>
              <a:buChar char="Ø"/>
            </a:pPr>
            <a:r>
              <a:rPr lang="en-US" sz="2000" dirty="0"/>
              <a:t>Simplicity</a:t>
            </a:r>
          </a:p>
          <a:p>
            <a:pPr>
              <a:buFont typeface="Wingdings" charset="2"/>
              <a:buChar char="Ø"/>
            </a:pPr>
            <a:r>
              <a:rPr lang="en-US" dirty="0"/>
              <a:t>Disadvantages	</a:t>
            </a:r>
          </a:p>
          <a:p>
            <a:pPr lvl="1">
              <a:buFont typeface="Wingdings" charset="2"/>
              <a:buChar char="Ø"/>
            </a:pPr>
            <a:r>
              <a:rPr lang="en-US" sz="2000" b="1" i="1" dirty="0"/>
              <a:t>Long</a:t>
            </a:r>
            <a:r>
              <a:rPr lang="en-US" sz="2000" dirty="0"/>
              <a:t> Run-time ~ O(n</a:t>
            </a:r>
            <a:r>
              <a:rPr lang="en-US" sz="2000" baseline="30000" dirty="0"/>
              <a:t>3</a:t>
            </a:r>
            <a:r>
              <a:rPr lang="en-US" sz="2000" dirty="0" smtClean="0"/>
              <a:t>)     (Problem for large graphs)</a:t>
            </a:r>
          </a:p>
          <a:p>
            <a:pPr lvl="2">
              <a:buFont typeface="Wingdings" charset="2"/>
              <a:buChar char="Ø"/>
            </a:pPr>
            <a:r>
              <a:rPr lang="en-US" sz="2000" dirty="0" smtClean="0"/>
              <a:t>Standard algorithm: Hundreds-Thousand nodes</a:t>
            </a:r>
          </a:p>
          <a:p>
            <a:pPr lvl="2">
              <a:buFont typeface="Wingdings" charset="2"/>
              <a:buChar char="Ø"/>
            </a:pPr>
            <a:r>
              <a:rPr lang="en-US" sz="2000" dirty="0" smtClean="0"/>
              <a:t>Barnes-Hut Simulation O(n log(n)): ~100K nodes</a:t>
            </a:r>
          </a:p>
          <a:p>
            <a:pPr lvl="2">
              <a:buFont typeface="Wingdings" charset="2"/>
              <a:buChar char="Ø"/>
            </a:pPr>
            <a:r>
              <a:rPr lang="en-US" sz="2000" dirty="0"/>
              <a:t>M</a:t>
            </a:r>
            <a:r>
              <a:rPr lang="en-US" sz="2000" dirty="0" smtClean="0"/>
              <a:t>ulti-level approaches: ~million of nodes</a:t>
            </a:r>
          </a:p>
          <a:p>
            <a:pPr lvl="1">
              <a:buFont typeface="Wingdings" charset="2"/>
              <a:buChar char="Ø"/>
            </a:pPr>
            <a:r>
              <a:rPr lang="en-US" sz="2000" dirty="0" smtClean="0"/>
              <a:t>Some algorithms find poor </a:t>
            </a:r>
            <a:r>
              <a:rPr lang="en-US" sz="2000" dirty="0"/>
              <a:t>local </a:t>
            </a:r>
            <a:r>
              <a:rPr lang="en-US" sz="2000" dirty="0" smtClean="0"/>
              <a:t>minima</a:t>
            </a:r>
          </a:p>
          <a:p>
            <a:pPr lvl="1">
              <a:buFont typeface="Wingdings" charset="2"/>
              <a:buChar char="Ø"/>
            </a:pPr>
            <a:r>
              <a:rPr lang="en-US" sz="2000" dirty="0" smtClean="0"/>
              <a:t>Rarely do algorithms factor in the weights of edges</a:t>
            </a:r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01474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Other Graph Drawings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charset="2"/>
              <a:buChar char="Ø"/>
            </a:pPr>
            <a:r>
              <a:rPr lang="en-US" b="1" dirty="0" smtClean="0"/>
              <a:t>Multidimensional Scaling</a:t>
            </a:r>
          </a:p>
          <a:p>
            <a:pPr>
              <a:buFont typeface="Wingdings" charset="2"/>
              <a:buChar char="Ø"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0373777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Other Graph Drawings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charset="2"/>
              <a:buChar char="Ø"/>
            </a:pPr>
            <a:r>
              <a:rPr lang="en-US" b="1" dirty="0" smtClean="0"/>
              <a:t>Multidimensional Scaling</a:t>
            </a:r>
          </a:p>
          <a:p>
            <a:pPr>
              <a:buFont typeface="Wingdings" charset="2"/>
              <a:buChar char="Ø"/>
            </a:pPr>
            <a:endParaRPr lang="en-US" dirty="0" smtClean="0"/>
          </a:p>
          <a:p>
            <a:pPr lvl="1">
              <a:buFont typeface="Wingdings" charset="2"/>
              <a:buChar char="Ø"/>
            </a:pPr>
            <a:r>
              <a:rPr lang="en-US" sz="1800" dirty="0" smtClean="0"/>
              <a:t>Class of methods to </a:t>
            </a:r>
            <a:r>
              <a:rPr lang="en-US" sz="1800" dirty="0"/>
              <a:t>best </a:t>
            </a:r>
            <a:r>
              <a:rPr lang="en-US" sz="1800" dirty="0" smtClean="0"/>
              <a:t>represent pairwise </a:t>
            </a:r>
            <a:r>
              <a:rPr lang="en-US" sz="1800" dirty="0"/>
              <a:t>distances in 2-space</a:t>
            </a:r>
            <a:r>
              <a:rPr lang="en-US" sz="1800" dirty="0" smtClean="0"/>
              <a:t>.</a:t>
            </a:r>
          </a:p>
          <a:p>
            <a:pPr lvl="1">
              <a:buFont typeface="Wingdings" charset="2"/>
              <a:buChar char="Ø"/>
            </a:pPr>
            <a:endParaRPr lang="en-US" sz="1800" dirty="0"/>
          </a:p>
          <a:p>
            <a:pPr lvl="1">
              <a:buFont typeface="Wingdings" charset="2"/>
              <a:buChar char="Ø"/>
            </a:pPr>
            <a:r>
              <a:rPr lang="en-US" sz="1800" dirty="0" smtClean="0"/>
              <a:t>The distances between points in the resulting 2-dimensional approximation are as close as possible to the distances between points in the original space. </a:t>
            </a:r>
          </a:p>
          <a:p>
            <a:pPr lvl="1">
              <a:buFont typeface="Wingdings" charset="2"/>
              <a:buChar char="Ø"/>
            </a:pPr>
            <a:endParaRPr lang="en-US" sz="1800" dirty="0"/>
          </a:p>
          <a:p>
            <a:pPr lvl="1">
              <a:buFont typeface="Wingdings" charset="2"/>
              <a:buChar char="Ø"/>
            </a:pPr>
            <a:r>
              <a:rPr lang="en-US" sz="1800" dirty="0"/>
              <a:t>Gives (</a:t>
            </a:r>
            <a:r>
              <a:rPr lang="en-US" sz="1800" dirty="0" err="1"/>
              <a:t>x,y</a:t>
            </a:r>
            <a:r>
              <a:rPr lang="en-US" sz="1800" dirty="0"/>
              <a:t>) coordinates based on the SVD/PCA of a similarity matrix </a:t>
            </a:r>
            <a:endParaRPr lang="en-US" sz="1800" dirty="0" smtClean="0"/>
          </a:p>
          <a:p>
            <a:pPr lvl="1">
              <a:buFont typeface="Wingdings" charset="2"/>
              <a:buChar char="Ø"/>
            </a:pPr>
            <a:endParaRPr lang="en-US" sz="1800" dirty="0" smtClean="0"/>
          </a:p>
          <a:p>
            <a:pPr lvl="1">
              <a:buFont typeface="Wingdings" charset="2"/>
              <a:buChar char="Ø"/>
            </a:pPr>
            <a:r>
              <a:rPr lang="en-US" sz="1800" dirty="0" smtClean="0"/>
              <a:t>For a network, the distance between 2 nodes is the length of shortest path between them.</a:t>
            </a:r>
          </a:p>
        </p:txBody>
      </p:sp>
    </p:spTree>
    <p:extLst>
      <p:ext uri="{BB962C8B-B14F-4D97-AF65-F5344CB8AC3E}">
        <p14:creationId xmlns:p14="http://schemas.microsoft.com/office/powerpoint/2010/main" val="17286066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Visualization Software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Ø"/>
            </a:pPr>
            <a:r>
              <a:rPr lang="en-US" dirty="0" err="1" smtClean="0"/>
              <a:t>Gephi</a:t>
            </a:r>
            <a:r>
              <a:rPr lang="en-US" dirty="0" smtClean="0"/>
              <a:t> – Most popular (as of late)</a:t>
            </a:r>
          </a:p>
          <a:p>
            <a:pPr>
              <a:buFont typeface="Wingdings" charset="2"/>
              <a:buChar char="Ø"/>
            </a:pPr>
            <a:r>
              <a:rPr lang="en-US" dirty="0" smtClean="0"/>
              <a:t>R</a:t>
            </a:r>
          </a:p>
          <a:p>
            <a:pPr lvl="1">
              <a:buFont typeface="Wingdings" charset="2"/>
              <a:buChar char="Ø"/>
            </a:pPr>
            <a:r>
              <a:rPr lang="en-US" dirty="0" err="1" smtClean="0"/>
              <a:t>igraph</a:t>
            </a:r>
            <a:endParaRPr lang="en-US" dirty="0" smtClean="0"/>
          </a:p>
          <a:p>
            <a:pPr lvl="1">
              <a:buFont typeface="Wingdings" charset="2"/>
              <a:buChar char="Ø"/>
            </a:pPr>
            <a:r>
              <a:rPr lang="en-US" dirty="0" smtClean="0"/>
              <a:t>network</a:t>
            </a:r>
          </a:p>
          <a:p>
            <a:pPr lvl="1">
              <a:buFont typeface="Wingdings" charset="2"/>
              <a:buChar char="Ø"/>
            </a:pPr>
            <a:r>
              <a:rPr lang="en-US" dirty="0" smtClean="0"/>
              <a:t>networkD3</a:t>
            </a:r>
          </a:p>
          <a:p>
            <a:pPr>
              <a:buFont typeface="Wingdings" charset="2"/>
              <a:buChar char="Ø"/>
            </a:pPr>
            <a:r>
              <a:rPr lang="en-US" dirty="0" smtClean="0"/>
              <a:t>Python</a:t>
            </a:r>
          </a:p>
          <a:p>
            <a:pPr lvl="1"/>
            <a:r>
              <a:rPr lang="en-US" dirty="0" err="1" smtClean="0"/>
              <a:t>networkX</a:t>
            </a:r>
            <a:endParaRPr lang="en-US" dirty="0" smtClean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09134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Formats	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Edgelists</a:t>
            </a:r>
            <a:r>
              <a:rPr lang="en-US" dirty="0" smtClean="0"/>
              <a:t>, Adjacency Matrices, Lists of Neighbors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4286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Graph Data Formats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199"/>
            <a:ext cx="8229600" cy="3800523"/>
          </a:xfrm>
        </p:spPr>
        <p:txBody>
          <a:bodyPr>
            <a:normAutofit/>
          </a:bodyPr>
          <a:lstStyle/>
          <a:p>
            <a:pPr>
              <a:buFont typeface="Wingdings" charset="2"/>
              <a:buChar char="Ø"/>
            </a:pPr>
            <a:r>
              <a:rPr lang="en-US" dirty="0" smtClean="0"/>
              <a:t>Many possible formats (.</a:t>
            </a:r>
            <a:r>
              <a:rPr lang="en-US" dirty="0" err="1" smtClean="0"/>
              <a:t>gml</a:t>
            </a:r>
            <a:r>
              <a:rPr lang="en-US" dirty="0" smtClean="0"/>
              <a:t>,.csv,.</a:t>
            </a:r>
            <a:r>
              <a:rPr lang="en-US" dirty="0" err="1" smtClean="0"/>
              <a:t>gephi</a:t>
            </a:r>
            <a:r>
              <a:rPr lang="en-US" dirty="0" smtClean="0"/>
              <a:t>, </a:t>
            </a:r>
            <a:r>
              <a:rPr lang="en-US" dirty="0" err="1" smtClean="0"/>
              <a:t>etc</a:t>
            </a:r>
            <a:r>
              <a:rPr lang="en-US" dirty="0" smtClean="0"/>
              <a:t>)</a:t>
            </a:r>
          </a:p>
          <a:p>
            <a:pPr>
              <a:buFont typeface="Wingdings" charset="2"/>
              <a:buChar char="Ø"/>
            </a:pPr>
            <a:r>
              <a:rPr lang="en-US" dirty="0"/>
              <a:t>Many include built-in ways to include </a:t>
            </a:r>
            <a:r>
              <a:rPr lang="en-US" dirty="0" smtClean="0"/>
              <a:t>individual variables (e.g. gender, age)</a:t>
            </a:r>
          </a:p>
          <a:p>
            <a:pPr lvl="1">
              <a:buFont typeface="Wingdings" charset="2"/>
              <a:buChar char="Ø"/>
            </a:pPr>
            <a:r>
              <a:rPr lang="en-US" sz="1800" dirty="0" smtClean="0"/>
              <a:t>Node table</a:t>
            </a:r>
          </a:p>
          <a:p>
            <a:pPr lvl="1">
              <a:buFont typeface="Wingdings" charset="2"/>
              <a:buChar char="Ø"/>
            </a:pPr>
            <a:r>
              <a:rPr lang="en-US" sz="1800" dirty="0" smtClean="0"/>
              <a:t>Node attributes</a:t>
            </a:r>
          </a:p>
          <a:p>
            <a:pPr>
              <a:buFont typeface="Wingdings" charset="2"/>
              <a:buChar char="Ø"/>
            </a:pPr>
            <a:r>
              <a:rPr lang="en-US" dirty="0" smtClean="0"/>
              <a:t>All have some way to list edges (structural variables)</a:t>
            </a:r>
          </a:p>
          <a:p>
            <a:pPr lvl="1">
              <a:buFont typeface="Wingdings" charset="2"/>
              <a:buChar char="Ø"/>
            </a:pPr>
            <a:r>
              <a:rPr lang="en-US" sz="1800" dirty="0" smtClean="0"/>
              <a:t>Edge list</a:t>
            </a:r>
          </a:p>
          <a:p>
            <a:pPr lvl="1">
              <a:buFont typeface="Wingdings" charset="2"/>
              <a:buChar char="Ø"/>
            </a:pPr>
            <a:r>
              <a:rPr lang="en-US" sz="1800" dirty="0" smtClean="0"/>
              <a:t>List of neighbors</a:t>
            </a:r>
          </a:p>
          <a:p>
            <a:pPr lvl="1">
              <a:buFont typeface="Wingdings" charset="2"/>
              <a:buChar char="Ø"/>
            </a:pPr>
            <a:r>
              <a:rPr lang="en-US" sz="1800" dirty="0" smtClean="0"/>
              <a:t>Adjacency Matrix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63923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Edge List Format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717432"/>
          </a:xfrm>
        </p:spPr>
        <p:txBody>
          <a:bodyPr>
            <a:normAutofit/>
          </a:bodyPr>
          <a:lstStyle/>
          <a:p>
            <a:pPr>
              <a:buFont typeface="Wingdings" charset="2"/>
              <a:buChar char="Ø"/>
            </a:pPr>
            <a:r>
              <a:rPr lang="en-US" dirty="0" smtClean="0"/>
              <a:t>Lists the source and target of each edge. Numbering of nodes dependent on software. (python: 0…n)   (R: 1…n  package dependent)</a:t>
            </a:r>
          </a:p>
          <a:p>
            <a:pPr>
              <a:buFont typeface="Wingdings" charset="2"/>
              <a:buChar char="Ø"/>
            </a:pPr>
            <a:r>
              <a:rPr lang="en-US" dirty="0" smtClean="0"/>
              <a:t>Some formats allow edge attributes (type/weight)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481064" y="3632277"/>
            <a:ext cx="4184334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lvl="1"/>
            <a:r>
              <a:rPr lang="en-US" u="sng" dirty="0" smtClean="0">
                <a:latin typeface="+mj-lt"/>
              </a:rPr>
              <a:t>Source</a:t>
            </a:r>
            <a:r>
              <a:rPr lang="en-US" dirty="0">
                <a:latin typeface="+mj-lt"/>
              </a:rPr>
              <a:t> </a:t>
            </a:r>
            <a:r>
              <a:rPr lang="en-US" dirty="0" smtClean="0">
                <a:latin typeface="+mj-lt"/>
              </a:rPr>
              <a:t>       </a:t>
            </a:r>
            <a:r>
              <a:rPr lang="en-US" u="sng" dirty="0" smtClean="0">
                <a:latin typeface="+mj-lt"/>
              </a:rPr>
              <a:t>Target</a:t>
            </a:r>
            <a:r>
              <a:rPr lang="en-US" dirty="0" smtClean="0">
                <a:latin typeface="+mj-lt"/>
              </a:rPr>
              <a:t>	</a:t>
            </a:r>
            <a:r>
              <a:rPr lang="en-US" u="sng" dirty="0" smtClean="0">
                <a:latin typeface="+mj-lt"/>
              </a:rPr>
              <a:t>Weight</a:t>
            </a:r>
          </a:p>
          <a:p>
            <a:pPr lvl="1"/>
            <a:r>
              <a:rPr lang="en-US" dirty="0" smtClean="0">
                <a:latin typeface="+mj-lt"/>
              </a:rPr>
              <a:t>   1		3	   2</a:t>
            </a:r>
          </a:p>
          <a:p>
            <a:pPr lvl="1"/>
            <a:r>
              <a:rPr lang="en-US" dirty="0" smtClean="0">
                <a:latin typeface="+mj-lt"/>
              </a:rPr>
              <a:t>   1		4	   1</a:t>
            </a:r>
          </a:p>
          <a:p>
            <a:pPr lvl="1"/>
            <a:r>
              <a:rPr lang="en-US" dirty="0" smtClean="0">
                <a:latin typeface="+mj-lt"/>
              </a:rPr>
              <a:t>   1		5	   2</a:t>
            </a:r>
          </a:p>
          <a:p>
            <a:pPr lvl="1"/>
            <a:r>
              <a:rPr lang="en-US" dirty="0" smtClean="0">
                <a:latin typeface="+mj-lt"/>
              </a:rPr>
              <a:t>   2		1	   1</a:t>
            </a:r>
          </a:p>
          <a:p>
            <a:pPr lvl="1"/>
            <a:r>
              <a:rPr lang="en-US" dirty="0" smtClean="0">
                <a:latin typeface="+mj-lt"/>
              </a:rPr>
              <a:t>   2		3	   1</a:t>
            </a:r>
          </a:p>
          <a:p>
            <a:pPr lvl="1"/>
            <a:r>
              <a:rPr lang="en-US" dirty="0" smtClean="0">
                <a:latin typeface="+mj-lt"/>
              </a:rPr>
              <a:t>   3		4	   1</a:t>
            </a:r>
          </a:p>
          <a:p>
            <a:pPr lvl="1"/>
            <a:r>
              <a:rPr lang="en-US" dirty="0" smtClean="0">
                <a:latin typeface="+mj-lt"/>
              </a:rPr>
              <a:t>   5		4	   2</a:t>
            </a:r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299592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Neighbors List </a:t>
            </a:r>
            <a:r>
              <a:rPr lang="en-US" dirty="0"/>
              <a:t>Format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Ø"/>
            </a:pPr>
            <a:r>
              <a:rPr lang="en-US" dirty="0" smtClean="0"/>
              <a:t>Best choice for large graphs</a:t>
            </a:r>
          </a:p>
          <a:p>
            <a:pPr>
              <a:buFont typeface="Wingdings" charset="2"/>
              <a:buChar char="Ø"/>
            </a:pPr>
            <a:r>
              <a:rPr lang="en-US" dirty="0" smtClean="0"/>
              <a:t>1 data line for each node, listing all of its neighbors:</a:t>
            </a:r>
          </a:p>
          <a:p>
            <a:pPr>
              <a:buFont typeface="Wingdings" charset="2"/>
              <a:buChar char="Ø"/>
            </a:pPr>
            <a:endParaRPr lang="en-US" dirty="0"/>
          </a:p>
          <a:p>
            <a:pPr>
              <a:buFont typeface="Wingdings" charset="2"/>
              <a:buChar char="Ø"/>
            </a:pPr>
            <a:endParaRPr lang="en-US" dirty="0" smtClean="0"/>
          </a:p>
          <a:p>
            <a:pPr>
              <a:buFont typeface="Wingdings" charset="2"/>
              <a:buChar char="Ø"/>
            </a:pPr>
            <a:endParaRPr lang="en-US" dirty="0"/>
          </a:p>
          <a:p>
            <a:pPr>
              <a:buFont typeface="Wingdings" charset="2"/>
              <a:buChar char="Ø"/>
            </a:pPr>
            <a:endParaRPr lang="en-US" dirty="0" smtClean="0"/>
          </a:p>
          <a:p>
            <a:pPr>
              <a:buFont typeface="Wingdings" charset="2"/>
              <a:buChar char="Ø"/>
            </a:pPr>
            <a:endParaRPr lang="en-US" dirty="0"/>
          </a:p>
          <a:p>
            <a:pPr>
              <a:buFont typeface="Wingdings" charset="2"/>
              <a:buChar char="Ø"/>
            </a:pPr>
            <a:r>
              <a:rPr lang="en-US" dirty="0" smtClean="0"/>
              <a:t>Cannot easily incorporate edge attributes to this data structure.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516206" y="2776179"/>
            <a:ext cx="1023932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j-lt"/>
              </a:rPr>
              <a:t>1:  3,4,5</a:t>
            </a:r>
          </a:p>
          <a:p>
            <a:r>
              <a:rPr lang="en-US" dirty="0" smtClean="0">
                <a:latin typeface="+mj-lt"/>
              </a:rPr>
              <a:t>2:  1,3</a:t>
            </a:r>
          </a:p>
          <a:p>
            <a:r>
              <a:rPr lang="en-US" dirty="0" smtClean="0">
                <a:latin typeface="+mj-lt"/>
              </a:rPr>
              <a:t>3:  4</a:t>
            </a:r>
          </a:p>
          <a:p>
            <a:r>
              <a:rPr lang="en-US" dirty="0" smtClean="0">
                <a:latin typeface="+mj-lt"/>
              </a:rPr>
              <a:t>4:  </a:t>
            </a:r>
          </a:p>
          <a:p>
            <a:r>
              <a:rPr lang="en-US" dirty="0" smtClean="0">
                <a:latin typeface="+mj-lt"/>
              </a:rPr>
              <a:t>5:  4</a:t>
            </a:r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424482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Adjacency Matrix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Ø"/>
            </a:pPr>
            <a:r>
              <a:rPr lang="en-US" dirty="0" smtClean="0"/>
              <a:t>Generally, all of the analysis is going to involve the </a:t>
            </a:r>
            <a:r>
              <a:rPr lang="en-US" b="1" dirty="0" smtClean="0"/>
              <a:t>adjacency matrix, A.</a:t>
            </a:r>
          </a:p>
          <a:p>
            <a:pPr>
              <a:buFont typeface="Wingdings" charset="2"/>
              <a:buChar char="Ø"/>
            </a:pPr>
            <a:r>
              <a:rPr lang="en-US" b="1" dirty="0" smtClean="0"/>
              <a:t> </a:t>
            </a:r>
            <a:r>
              <a:rPr lang="en-US" b="1" dirty="0" err="1" smtClean="0"/>
              <a:t>A</a:t>
            </a:r>
            <a:r>
              <a:rPr lang="en-US" b="1" baseline="-25000" dirty="0" err="1" smtClean="0"/>
              <a:t>ij</a:t>
            </a:r>
            <a:r>
              <a:rPr lang="en-US" b="1" baseline="-25000" dirty="0" smtClean="0"/>
              <a:t> </a:t>
            </a:r>
            <a:r>
              <a:rPr lang="en-US" dirty="0" smtClean="0"/>
              <a:t>= weight of edge between vertex </a:t>
            </a:r>
            <a:r>
              <a:rPr lang="en-US" dirty="0" err="1" smtClean="0"/>
              <a:t>i</a:t>
            </a:r>
            <a:r>
              <a:rPr lang="en-US" dirty="0" smtClean="0"/>
              <a:t> and vertex j</a:t>
            </a:r>
          </a:p>
        </p:txBody>
      </p:sp>
    </p:spTree>
    <p:extLst>
      <p:ext uri="{BB962C8B-B14F-4D97-AF65-F5344CB8AC3E}">
        <p14:creationId xmlns:p14="http://schemas.microsoft.com/office/powerpoint/2010/main" val="5508255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Pop Quiz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Which of the following words accurately describes the adjacency matrix for an undirected graph?</a:t>
            </a:r>
          </a:p>
          <a:p>
            <a:pPr marL="800100" lvl="1" indent="-342900">
              <a:buFont typeface="+mj-lt"/>
              <a:buAutoNum type="arabicPeriod"/>
            </a:pPr>
            <a:endParaRPr lang="en-US" dirty="0" smtClean="0"/>
          </a:p>
          <a:p>
            <a:pPr marL="1771650" lvl="3" indent="-457200">
              <a:buFont typeface="+mj-lt"/>
              <a:buAutoNum type="alphaUcPeriod"/>
            </a:pPr>
            <a:r>
              <a:rPr lang="en-US" sz="2400" dirty="0"/>
              <a:t>Diagonal</a:t>
            </a:r>
          </a:p>
          <a:p>
            <a:pPr marL="1771650" lvl="3" indent="-457200">
              <a:buFont typeface="+mj-lt"/>
              <a:buAutoNum type="alphaUcPeriod"/>
            </a:pPr>
            <a:r>
              <a:rPr lang="en-US" sz="2400" dirty="0" smtClean="0"/>
              <a:t>Symmetric</a:t>
            </a:r>
          </a:p>
          <a:p>
            <a:pPr marL="1771650" lvl="3" indent="-457200">
              <a:buFont typeface="+mj-lt"/>
              <a:buAutoNum type="alphaUcPeriod"/>
            </a:pPr>
            <a:r>
              <a:rPr lang="en-US" sz="2400" dirty="0" smtClean="0"/>
              <a:t>Identity</a:t>
            </a:r>
          </a:p>
          <a:p>
            <a:pPr marL="1771650" lvl="3" indent="-457200">
              <a:buFont typeface="+mj-lt"/>
              <a:buAutoNum type="alphaUcPeriod"/>
            </a:pPr>
            <a:r>
              <a:rPr lang="en-US" sz="2400" dirty="0" smtClean="0"/>
              <a:t>Negative</a:t>
            </a:r>
          </a:p>
          <a:p>
            <a:pPr marL="1771650" lvl="3" indent="-457200">
              <a:buFont typeface="+mj-lt"/>
              <a:buAutoNum type="alphaUcPeriod"/>
            </a:pPr>
            <a:r>
              <a:rPr lang="en-US" sz="2400" dirty="0" smtClean="0"/>
              <a:t>Rectangular</a:t>
            </a:r>
          </a:p>
          <a:p>
            <a:pPr marL="1771650" lvl="3" indent="-457200">
              <a:buFont typeface="+mj-lt"/>
              <a:buAutoNum type="alphaUcPeriod"/>
            </a:pPr>
            <a:r>
              <a:rPr lang="en-US" sz="2400" dirty="0" smtClean="0"/>
              <a:t>Sassy</a:t>
            </a:r>
          </a:p>
          <a:p>
            <a:pPr marL="1657350" lvl="3" indent="-342900">
              <a:buFont typeface="+mj-lt"/>
              <a:buAutoNum type="alphaUcPeriod"/>
            </a:pPr>
            <a:endParaRPr lang="en-US" dirty="0" smtClean="0"/>
          </a:p>
          <a:p>
            <a:pPr marL="1657350" lvl="3" indent="-342900">
              <a:buFont typeface="+mj-lt"/>
              <a:buAutoNum type="alphaU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901691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Executive.thmx</Template>
  <TotalTime>3726</TotalTime>
  <Words>820</Words>
  <Application>Microsoft Macintosh PowerPoint</Application>
  <PresentationFormat>On-screen Show (4:3)</PresentationFormat>
  <Paragraphs>184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Calibri</vt:lpstr>
      <vt:lpstr>Century Gothic</vt:lpstr>
      <vt:lpstr>Courier New</vt:lpstr>
      <vt:lpstr>Palatino Linotype</vt:lpstr>
      <vt:lpstr>Wingdings</vt:lpstr>
      <vt:lpstr>Arial</vt:lpstr>
      <vt:lpstr>Executive</vt:lpstr>
      <vt:lpstr>Network Analysis</vt:lpstr>
      <vt:lpstr>Course Overview</vt:lpstr>
      <vt:lpstr>Questions this course might answer</vt:lpstr>
      <vt:lpstr>Introduction to  Network Data </vt:lpstr>
      <vt:lpstr>What is a graph/network? </vt:lpstr>
      <vt:lpstr>What is a graph/network? </vt:lpstr>
      <vt:lpstr>Graph Diagram (Binary Graph)</vt:lpstr>
      <vt:lpstr>PowerPoint Presentation</vt:lpstr>
      <vt:lpstr>PowerPoint Presentation</vt:lpstr>
      <vt:lpstr>Examples of Networks</vt:lpstr>
      <vt:lpstr>Pop Quiz</vt:lpstr>
      <vt:lpstr>Statistical Considerations for  Network data</vt:lpstr>
      <vt:lpstr>Sampling</vt:lpstr>
      <vt:lpstr>Snowball sampling </vt:lpstr>
      <vt:lpstr>Independence</vt:lpstr>
      <vt:lpstr>Network Visualization</vt:lpstr>
      <vt:lpstr>Sample of The Internet </vt:lpstr>
      <vt:lpstr>Sample of The Internet </vt:lpstr>
      <vt:lpstr>Air Transportation</vt:lpstr>
      <vt:lpstr>Layout is important!</vt:lpstr>
      <vt:lpstr>Considerations for Network Layout</vt:lpstr>
      <vt:lpstr>Force-Directed Graph Drawing </vt:lpstr>
      <vt:lpstr>Force-Directed Graph Drawing </vt:lpstr>
      <vt:lpstr>Other Graph Drawings</vt:lpstr>
      <vt:lpstr>Other Graph Drawings</vt:lpstr>
      <vt:lpstr>Visualization Software </vt:lpstr>
      <vt:lpstr>Data Formats </vt:lpstr>
      <vt:lpstr>Graph Data Formats</vt:lpstr>
      <vt:lpstr>Edge List Format </vt:lpstr>
      <vt:lpstr>Neighbors List Format </vt:lpstr>
      <vt:lpstr>Adjacency Matrix</vt:lpstr>
      <vt:lpstr>Pop Quiz</vt:lpstr>
    </vt:vector>
  </TitlesOfParts>
  <Company/>
  <LinksUpToDate>false</LinksUpToDate>
  <SharedDoc>false</SharedDoc>
  <HyperlinksChanged>false</HyperlinksChanged>
  <AppVersion>15.0035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Network Analysis</dc:title>
  <dc:creator>Shaina</dc:creator>
  <cp:lastModifiedBy>Shaina L Race</cp:lastModifiedBy>
  <cp:revision>76</cp:revision>
  <cp:lastPrinted>2017-03-14T13:52:55Z</cp:lastPrinted>
  <dcterms:created xsi:type="dcterms:W3CDTF">2016-02-08T21:02:21Z</dcterms:created>
  <dcterms:modified xsi:type="dcterms:W3CDTF">2018-03-01T16:09:40Z</dcterms:modified>
</cp:coreProperties>
</file>