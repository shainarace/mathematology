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269" r:id="rId2"/>
    <p:sldId id="315" r:id="rId3"/>
    <p:sldId id="310" r:id="rId4"/>
    <p:sldId id="311" r:id="rId5"/>
    <p:sldId id="318" r:id="rId6"/>
    <p:sldId id="329" r:id="rId7"/>
    <p:sldId id="312" r:id="rId8"/>
    <p:sldId id="313" r:id="rId9"/>
    <p:sldId id="314" r:id="rId10"/>
    <p:sldId id="328" r:id="rId11"/>
    <p:sldId id="330" r:id="rId12"/>
    <p:sldId id="331" r:id="rId13"/>
    <p:sldId id="299" r:id="rId14"/>
    <p:sldId id="332" r:id="rId15"/>
    <p:sldId id="333" r:id="rId16"/>
    <p:sldId id="334" r:id="rId17"/>
    <p:sldId id="335" r:id="rId18"/>
    <p:sldId id="336" r:id="rId19"/>
    <p:sldId id="337" r:id="rId20"/>
    <p:sldId id="327" r:id="rId21"/>
    <p:sldId id="321" r:id="rId22"/>
    <p:sldId id="322" r:id="rId23"/>
    <p:sldId id="319" r:id="rId24"/>
    <p:sldId id="320" r:id="rId25"/>
    <p:sldId id="323" r:id="rId26"/>
    <p:sldId id="324" r:id="rId27"/>
    <p:sldId id="325" r:id="rId28"/>
    <p:sldId id="326" r:id="rId29"/>
    <p:sldId id="28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DD8214-73D9-8743-B8DE-EEE209D4C00A}">
          <p14:sldIdLst>
            <p14:sldId id="269"/>
            <p14:sldId id="315"/>
            <p14:sldId id="310"/>
            <p14:sldId id="311"/>
            <p14:sldId id="318"/>
            <p14:sldId id="329"/>
            <p14:sldId id="312"/>
            <p14:sldId id="313"/>
            <p14:sldId id="314"/>
            <p14:sldId id="328"/>
            <p14:sldId id="330"/>
            <p14:sldId id="331"/>
            <p14:sldId id="299"/>
            <p14:sldId id="332"/>
            <p14:sldId id="333"/>
            <p14:sldId id="334"/>
            <p14:sldId id="335"/>
            <p14:sldId id="336"/>
            <p14:sldId id="337"/>
            <p14:sldId id="327"/>
            <p14:sldId id="321"/>
            <p14:sldId id="322"/>
            <p14:sldId id="319"/>
            <p14:sldId id="320"/>
            <p14:sldId id="323"/>
            <p14:sldId id="324"/>
            <p14:sldId id="325"/>
            <p14:sldId id="326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74" autoAdjust="0"/>
  </p:normalViewPr>
  <p:slideViewPr>
    <p:cSldViewPr snapToGrid="0" snapToObjects="1">
      <p:cViewPr varScale="1">
        <p:scale>
          <a:sx n="124" d="100"/>
          <a:sy n="124" d="100"/>
        </p:scale>
        <p:origin x="18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Relationship Id="rId2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55EEC-29BA-D749-96B9-763E24A31A25}" type="datetimeFigureOut">
              <a:rPr lang="en-US" smtClean="0"/>
              <a:t>3/5/18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1E32A-3F26-D547-B939-8D34C205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3/5/18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3/5/18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4.ncsu.edu/~slrace/facebook.html" TargetMode="External"/><Relationship Id="rId3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0.emf"/><Relationship Id="rId5" Type="http://schemas.openxmlformats.org/officeDocument/2006/relationships/image" Target="../media/image11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4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17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ocilab.com" TargetMode="External"/><Relationship Id="rId3" Type="http://schemas.openxmlformats.org/officeDocument/2006/relationships/hyperlink" Target="http://www.theyrule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9247"/>
            <a:ext cx="7772400" cy="3429644"/>
          </a:xfrm>
        </p:spPr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Dr. Shaina Race</a:t>
            </a:r>
          </a:p>
          <a:p>
            <a:r>
              <a:rPr lang="en-US" dirty="0"/>
              <a:t>Institute for Advanced Analytics</a:t>
            </a:r>
          </a:p>
          <a:p>
            <a:endParaRPr lang="en-US" dirty="0"/>
          </a:p>
          <a:p>
            <a:r>
              <a:rPr lang="en-US" dirty="0"/>
              <a:t>Spring </a:t>
            </a:r>
            <a:r>
              <a:rPr lang="en-US" dirty="0" smtClean="0"/>
              <a:t>2018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424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Descriptives</a:t>
            </a:r>
            <a:r>
              <a:rPr lang="en-US" dirty="0" smtClean="0"/>
              <a:t> of Network Structure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Components, Cliques, Bridges, Brokers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0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Connected Components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A graph is </a:t>
            </a:r>
            <a:r>
              <a:rPr lang="en-US" b="1" dirty="0"/>
              <a:t>connected </a:t>
            </a:r>
            <a:r>
              <a:rPr lang="en-US" dirty="0"/>
              <a:t>if every node can be reached from every other </a:t>
            </a:r>
            <a:r>
              <a:rPr lang="en-US" dirty="0" smtClean="0"/>
              <a:t>node</a:t>
            </a:r>
            <a:endParaRPr lang="en-US" dirty="0"/>
          </a:p>
          <a:p>
            <a:pPr lvl="1">
              <a:buFont typeface="Wingdings" charset="2"/>
              <a:buChar char="Ø"/>
            </a:pPr>
            <a:r>
              <a:rPr lang="en-US" dirty="0" smtClean="0"/>
              <a:t>(no separate pieces)</a:t>
            </a:r>
          </a:p>
          <a:p>
            <a:pPr>
              <a:buFont typeface="Wingdings" charset="2"/>
              <a:buChar char="Ø"/>
            </a:pPr>
            <a:r>
              <a:rPr lang="en-US" dirty="0"/>
              <a:t>A </a:t>
            </a:r>
            <a:r>
              <a:rPr lang="en-US" b="1" dirty="0"/>
              <a:t>component </a:t>
            </a:r>
            <a:r>
              <a:rPr lang="en-US" dirty="0"/>
              <a:t>of a graph is a collection of nodes which are connected themselves but disconnected from the rest of the graph. 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41" y="3955550"/>
            <a:ext cx="3218093" cy="2918101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716374" y="3908033"/>
            <a:ext cx="1664413" cy="8219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56216" y="5085708"/>
            <a:ext cx="1869896" cy="178794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465262" y="4541178"/>
            <a:ext cx="1609047" cy="1632502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7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</a:t>
            </a:r>
            <a:r>
              <a:rPr lang="en-US" dirty="0" smtClean="0"/>
              <a:t>Components</a:t>
            </a:r>
            <a:br>
              <a:rPr lang="en-US" dirty="0" smtClean="0"/>
            </a:br>
            <a:r>
              <a:rPr lang="en-US" sz="4400" dirty="0" smtClean="0"/>
              <a:t>(in Directed Networks)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>
              <a:buFont typeface="Wingdings" charset="2"/>
              <a:buChar char="Ø"/>
            </a:pPr>
            <a:r>
              <a:rPr lang="en-US" b="1" dirty="0" smtClean="0"/>
              <a:t>Strongly Connected</a:t>
            </a:r>
            <a:r>
              <a:rPr lang="en-US" dirty="0" smtClean="0"/>
              <a:t>: Nodes connected by directed path</a:t>
            </a:r>
          </a:p>
          <a:p>
            <a:pPr>
              <a:buFont typeface="Wingdings" charset="2"/>
              <a:buChar char="Ø"/>
            </a:pPr>
            <a:r>
              <a:rPr lang="en-US" b="1" dirty="0" smtClean="0"/>
              <a:t>Weakly Connected</a:t>
            </a:r>
            <a:r>
              <a:rPr lang="en-US" dirty="0" smtClean="0"/>
              <a:t>: Nodes connected by edges regardless of direction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83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Pop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a network has more than one connected component, what does that say about it’s adjacency matrix?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37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479" y="299209"/>
            <a:ext cx="8229600" cy="1600200"/>
          </a:xfrm>
        </p:spPr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88740" y="2352780"/>
            <a:ext cx="4145623" cy="4117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711095" y="1704021"/>
            <a:ext cx="4985941" cy="4765795"/>
            <a:chOff x="1711095" y="1704021"/>
            <a:chExt cx="4985941" cy="4765795"/>
          </a:xfrm>
        </p:grpSpPr>
        <p:grpSp>
          <p:nvGrpSpPr>
            <p:cNvPr id="18" name="Group 17"/>
            <p:cNvGrpSpPr/>
            <p:nvPr/>
          </p:nvGrpSpPr>
          <p:grpSpPr>
            <a:xfrm>
              <a:off x="2455523" y="1704021"/>
              <a:ext cx="4241513" cy="537457"/>
              <a:chOff x="2455523" y="1704021"/>
              <a:chExt cx="4241513" cy="537457"/>
            </a:xfrm>
          </p:grpSpPr>
          <p:sp>
            <p:nvSpPr>
              <p:cNvPr id="7" name="Left Brace 6"/>
              <p:cNvSpPr/>
              <p:nvPr/>
            </p:nvSpPr>
            <p:spPr>
              <a:xfrm rot="5400000">
                <a:off x="2924709" y="1500027"/>
                <a:ext cx="272265" cy="1210637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455523" y="1704021"/>
                <a:ext cx="16335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2"/>
                    </a:solidFill>
                  </a:rPr>
                  <a:t>Component 1</a:t>
                </a:r>
                <a:endParaRPr lang="en-US" sz="1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" name="Left Brace 9"/>
              <p:cNvSpPr/>
              <p:nvPr/>
            </p:nvSpPr>
            <p:spPr>
              <a:xfrm rot="5400000">
                <a:off x="4440147" y="1349339"/>
                <a:ext cx="272265" cy="1512014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015483" y="1720624"/>
                <a:ext cx="16335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2"/>
                    </a:solidFill>
                  </a:rPr>
                  <a:t>Component 2</a:t>
                </a:r>
                <a:endParaRPr lang="en-US" sz="1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4" name="Left Brace 13"/>
              <p:cNvSpPr/>
              <p:nvPr/>
            </p:nvSpPr>
            <p:spPr>
              <a:xfrm rot="5400000">
                <a:off x="5821165" y="1528281"/>
                <a:ext cx="272265" cy="1154130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380232" y="1728925"/>
                <a:ext cx="13168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2"/>
                    </a:solidFill>
                  </a:rPr>
                  <a:t>Component 3</a:t>
                </a:r>
                <a:endParaRPr lang="en-US" sz="1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1711095" y="1910991"/>
              <a:ext cx="610864" cy="4558825"/>
              <a:chOff x="1711095" y="1910991"/>
              <a:chExt cx="610864" cy="4558825"/>
            </a:xfrm>
          </p:grpSpPr>
          <p:sp>
            <p:nvSpPr>
              <p:cNvPr id="5" name="Left Brace 4"/>
              <p:cNvSpPr/>
              <p:nvPr/>
            </p:nvSpPr>
            <p:spPr>
              <a:xfrm>
                <a:off x="2085654" y="2352781"/>
                <a:ext cx="236305" cy="1171254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 rot="16200000">
                <a:off x="1048188" y="2573898"/>
                <a:ext cx="16335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2"/>
                    </a:solidFill>
                  </a:rPr>
                  <a:t>Component 1</a:t>
                </a:r>
                <a:endParaRPr lang="en-US" sz="1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2" name="Left Brace 11"/>
              <p:cNvSpPr/>
              <p:nvPr/>
            </p:nvSpPr>
            <p:spPr>
              <a:xfrm>
                <a:off x="2049694" y="3640998"/>
                <a:ext cx="272265" cy="1512014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 rot="16200000">
                <a:off x="1079010" y="4073928"/>
                <a:ext cx="16335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2"/>
                    </a:solidFill>
                  </a:rPr>
                  <a:t>Component 2</a:t>
                </a:r>
                <a:endParaRPr lang="en-US" sz="1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" name="Left Brace 15"/>
              <p:cNvSpPr/>
              <p:nvPr/>
            </p:nvSpPr>
            <p:spPr>
              <a:xfrm>
                <a:off x="2034284" y="5234349"/>
                <a:ext cx="272265" cy="1154130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 rot="16200000">
                <a:off x="1236551" y="5657525"/>
                <a:ext cx="13168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2"/>
                    </a:solidFill>
                  </a:rPr>
                  <a:t>Component 3</a:t>
                </a:r>
                <a:endParaRPr lang="en-US" sz="1400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21" name="Rectangle 20"/>
          <p:cNvSpPr/>
          <p:nvPr/>
        </p:nvSpPr>
        <p:spPr>
          <a:xfrm>
            <a:off x="2388740" y="2352781"/>
            <a:ext cx="1330505" cy="1315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744927" y="3678148"/>
            <a:ext cx="1584833" cy="1566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332287" y="5281664"/>
            <a:ext cx="1202076" cy="118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601144" y="5442081"/>
            <a:ext cx="239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It’s ”</a:t>
            </a:r>
            <a:r>
              <a:rPr lang="en-US" b="1" smtClean="0">
                <a:solidFill>
                  <a:schemeClr val="tx2"/>
                </a:solidFill>
              </a:rPr>
              <a:t>block diagonal”</a:t>
            </a:r>
            <a:endParaRPr lang="en-US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20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Bridges and Brokers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7185" y="1713215"/>
            <a:ext cx="8229600" cy="525780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/>
              <a:t>A </a:t>
            </a:r>
            <a:r>
              <a:rPr lang="en-US" b="1" dirty="0"/>
              <a:t>bridge </a:t>
            </a:r>
            <a:r>
              <a:rPr lang="en-US" dirty="0"/>
              <a:t>is an edge whose removal disconnects the network. </a:t>
            </a:r>
          </a:p>
          <a:p>
            <a:pPr>
              <a:buFont typeface="Wingdings" charset="2"/>
              <a:buChar char="Ø"/>
            </a:pPr>
            <a:r>
              <a:rPr lang="en-US" dirty="0"/>
              <a:t>A </a:t>
            </a:r>
            <a:r>
              <a:rPr lang="en-US" b="1" dirty="0"/>
              <a:t>broker </a:t>
            </a:r>
            <a:r>
              <a:rPr lang="en-US" dirty="0"/>
              <a:t>is a node whose removal disconnects the </a:t>
            </a:r>
            <a:r>
              <a:rPr lang="en-US" dirty="0" smtClean="0"/>
              <a:t>network.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Important players in the “small world effect.”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://www4.ncsu.edu/~slrace/facebook.html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4" name="Picture 23" descr="bridgebrok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95584" y="2232062"/>
            <a:ext cx="3087055" cy="422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9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Cliques</a:t>
            </a:r>
            <a:br>
              <a:rPr lang="en-US" dirty="0" smtClean="0"/>
            </a:br>
            <a:r>
              <a:rPr lang="en-US" sz="4400" dirty="0" smtClean="0"/>
              <a:t>(aka Complete Graphs)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A </a:t>
            </a:r>
            <a:r>
              <a:rPr lang="en-US" b="1" dirty="0"/>
              <a:t>clique </a:t>
            </a:r>
            <a:r>
              <a:rPr lang="en-US" dirty="0"/>
              <a:t>is a group of </a:t>
            </a:r>
            <a:r>
              <a:rPr lang="en-US" i="1" dirty="0"/>
              <a:t>three or more </a:t>
            </a:r>
            <a:r>
              <a:rPr lang="en-US" dirty="0"/>
              <a:t>nodes among which all possible edges exist. Each node in a clique is connected to every other node in that clique.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45013" y="5756831"/>
            <a:ext cx="1046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triangle</a:t>
            </a:r>
            <a:endParaRPr lang="en-US" dirty="0"/>
          </a:p>
        </p:txBody>
      </p:sp>
      <p:pic>
        <p:nvPicPr>
          <p:cNvPr id="13" name="Picture 12" descr="clique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65417" y="2274194"/>
            <a:ext cx="3867738" cy="52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N-Cliques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 cliques hard to find. Relax the definition to a group of nodes separated by a distance ≤ n</a:t>
            </a:r>
          </a:p>
          <a:p>
            <a:endParaRPr lang="en-US" dirty="0"/>
          </a:p>
          <a:p>
            <a:r>
              <a:rPr lang="en-US" dirty="0"/>
              <a:t>2-</a:t>
            </a:r>
            <a:r>
              <a:rPr lang="en-US" dirty="0" smtClean="0"/>
              <a:t>clique: group </a:t>
            </a:r>
            <a:r>
              <a:rPr lang="en-US" dirty="0"/>
              <a:t>of nodes such that each is either directly connected to or shares at least one neighbor with every other node.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158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Nodal Degree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weighted/unweighted, directed/undirected</a:t>
            </a:r>
          </a:p>
          <a:p>
            <a:r>
              <a:rPr lang="en-US" dirty="0" smtClean="0"/>
              <a:t> and distribution across a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38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Nodal Degree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The degree of a node measures the connectedness of that node in the network.</a:t>
            </a: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For a binary graph, it is simply the number of edges connected to that node.</a:t>
            </a:r>
          </a:p>
        </p:txBody>
      </p:sp>
      <p:pic>
        <p:nvPicPr>
          <p:cNvPr id="4" name="Content Placeholder 3" descr="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8" b="5038"/>
          <a:stretch>
            <a:fillRect/>
          </a:stretch>
        </p:blipFill>
        <p:spPr>
          <a:xfrm>
            <a:off x="1855260" y="3584645"/>
            <a:ext cx="5331949" cy="2932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77073" y="4523438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58725" y="6217146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6868" y="3584613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84236" y="5756831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8883" y="5387499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4014" y="4398158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9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ighted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404" y="3195050"/>
            <a:ext cx="5818927" cy="35587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Degree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For </a:t>
            </a:r>
            <a:r>
              <a:rPr lang="en-US" dirty="0"/>
              <a:t>a </a:t>
            </a:r>
            <a:r>
              <a:rPr lang="en-US" dirty="0" smtClean="0"/>
              <a:t>weighted graph</a:t>
            </a:r>
            <a:r>
              <a:rPr lang="en-US" dirty="0"/>
              <a:t>, it </a:t>
            </a:r>
            <a:r>
              <a:rPr lang="en-US" dirty="0" smtClean="0"/>
              <a:t>is the sum of the weights of </a:t>
            </a:r>
            <a:r>
              <a:rPr lang="en-US" dirty="0"/>
              <a:t>edges connected to that node.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13163" y="4782098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13163" y="6032480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19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35477" y="3399947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84236" y="5756831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18883" y="5387499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567" y="4213492"/>
            <a:ext cx="14866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degree = 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788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Degree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For </a:t>
            </a:r>
            <a:r>
              <a:rPr lang="en-US" dirty="0"/>
              <a:t>a </a:t>
            </a:r>
            <a:r>
              <a:rPr lang="en-US" dirty="0" smtClean="0"/>
              <a:t>directed graph</a:t>
            </a:r>
            <a:r>
              <a:rPr lang="en-US" dirty="0"/>
              <a:t>, </a:t>
            </a:r>
            <a:r>
              <a:rPr lang="en-US" dirty="0" smtClean="0"/>
              <a:t>we calculate both an in-degree and an out-degree.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29731" y="4262714"/>
            <a:ext cx="1747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  = 0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=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74980" y="5724241"/>
            <a:ext cx="1747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  = 1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= 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96971" y="3306151"/>
            <a:ext cx="1747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  = 2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=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22760" y="5212527"/>
            <a:ext cx="1747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  = 3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=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1898" y="4262714"/>
            <a:ext cx="1747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  = 1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=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3597" y="5728765"/>
            <a:ext cx="17477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  = 1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out-</a:t>
            </a:r>
            <a:r>
              <a:rPr lang="en-US" dirty="0" err="1" smtClean="0">
                <a:solidFill>
                  <a:srgbClr val="FF0000"/>
                </a:solidFill>
              </a:rPr>
              <a:t>deg</a:t>
            </a:r>
            <a:r>
              <a:rPr lang="en-US" dirty="0" smtClean="0">
                <a:solidFill>
                  <a:srgbClr val="FF0000"/>
                </a:solidFill>
              </a:rPr>
              <a:t> = 2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 descr="directed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66" y="3306151"/>
            <a:ext cx="5386677" cy="329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9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Nodal Degree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Nodal degrees are sums of rows and/or columns of the corresponding adjacency matrix.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lnSpc>
                <a:spcPct val="70000"/>
              </a:lnSpc>
              <a:buNone/>
            </a:pPr>
            <a:r>
              <a:rPr lang="en-US" dirty="0" smtClean="0">
                <a:latin typeface="Andale Mono"/>
                <a:cs typeface="Andale Mono"/>
              </a:rPr>
              <a:t>0 1 0 0 0 0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 smtClean="0">
                <a:latin typeface="Andale Mono"/>
                <a:cs typeface="Andale Mono"/>
              </a:rPr>
              <a:t>0 0 1 0 0 0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 smtClean="0">
                <a:latin typeface="Andale Mono"/>
                <a:cs typeface="Andale Mono"/>
              </a:rPr>
              <a:t>0 0 0 1 0 0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 smtClean="0">
                <a:latin typeface="Andale Mono"/>
                <a:cs typeface="Andale Mono"/>
              </a:rPr>
              <a:t>0 0 1 0 1 1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 smtClean="0">
                <a:latin typeface="Andale Mono"/>
                <a:cs typeface="Andale Mono"/>
              </a:rPr>
              <a:t>0 0 0 1 0 1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 smtClean="0">
                <a:latin typeface="Andale Mono"/>
                <a:cs typeface="Andale Mono"/>
              </a:rPr>
              <a:t>0 0 0 1 1 0</a:t>
            </a:r>
            <a:endParaRPr lang="en-US" dirty="0">
              <a:latin typeface="Andale Mono"/>
              <a:cs typeface="Andale Mono"/>
            </a:endParaRPr>
          </a:p>
        </p:txBody>
      </p:sp>
      <p:pic>
        <p:nvPicPr>
          <p:cNvPr id="4" name="Picture 3" descr="directedgraphex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638" y="2963440"/>
            <a:ext cx="4894936" cy="299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95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It’s common to look at the distribution of degrees in a network.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Usually many nodes with low degree and few with high degree.</a:t>
            </a:r>
          </a:p>
        </p:txBody>
      </p:sp>
      <p:pic>
        <p:nvPicPr>
          <p:cNvPr id="5" name="Picture 4" descr="Screen Shot 2016-02-29 at 1.02.4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708" y="3229781"/>
            <a:ext cx="4675127" cy="347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61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It’s known that most networks follow natural patterns when it comes to degree distribution.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Two most common distributions:</a:t>
            </a:r>
          </a:p>
          <a:p>
            <a:endParaRPr lang="en-US" dirty="0"/>
          </a:p>
        </p:txBody>
      </p:sp>
      <p:pic>
        <p:nvPicPr>
          <p:cNvPr id="5" name="Picture 4" descr="Screen Shot 2016-02-29 at 1.19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52484"/>
            <a:ext cx="3601667" cy="3127196"/>
          </a:xfrm>
          <a:prstGeom prst="rect">
            <a:avLst/>
          </a:prstGeom>
        </p:spPr>
      </p:pic>
      <p:pic>
        <p:nvPicPr>
          <p:cNvPr id="6" name="Picture 5" descr="Screen Shot 2016-02-29 at 1.20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301" y="3223042"/>
            <a:ext cx="3605832" cy="314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32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The degree distribution appears as a </a:t>
            </a:r>
            <a:r>
              <a:rPr lang="en-US" b="1" i="1" dirty="0" smtClean="0"/>
              <a:t>power law</a:t>
            </a:r>
            <a:r>
              <a:rPr lang="en-US" i="1" dirty="0" smtClean="0"/>
              <a:t>: a relationship where one quantity varies as a power of another.</a:t>
            </a:r>
          </a:p>
          <a:p>
            <a:pPr>
              <a:buFont typeface="Wingdings" charset="2"/>
              <a:buChar char="Ø"/>
            </a:pPr>
            <a:endParaRPr lang="en-US" i="1" dirty="0"/>
          </a:p>
          <a:p>
            <a:pPr>
              <a:buFont typeface="Wingdings" charset="2"/>
              <a:buChar char="Ø"/>
            </a:pPr>
            <a:endParaRPr lang="en-US" i="1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Long tail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On a log-log scale, relationship looks linear.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556846" y="2741592"/>
          <a:ext cx="1865553" cy="763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3" imgW="558800" imgH="228600" progId="Equation.3">
                  <p:embed/>
                </p:oleObj>
              </mc:Choice>
              <mc:Fallback>
                <p:oleObj name="Equation" r:id="rId3" imgW="5588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6846" y="2741592"/>
                        <a:ext cx="1865553" cy="763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powerlaw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3120"/>
            <a:ext cx="914400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77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Law Graphs</a:t>
            </a:r>
            <a:br>
              <a:rPr lang="en-US" dirty="0" smtClean="0"/>
            </a:br>
            <a:r>
              <a:rPr lang="en-US" sz="4000" dirty="0" smtClean="0"/>
              <a:t>aka Scale Free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Power law graphs contain a few </a:t>
            </a:r>
            <a:r>
              <a:rPr lang="en-US" b="1" dirty="0" smtClean="0"/>
              <a:t>hubs</a:t>
            </a:r>
            <a:r>
              <a:rPr lang="en-US" dirty="0" smtClean="0"/>
              <a:t> (highly connected nodes) but the majority of nodes in the network have low degree.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scale-fre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791830" y="2750753"/>
            <a:ext cx="3832962" cy="394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11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Law Graphs</a:t>
            </a:r>
            <a:br>
              <a:rPr lang="en-US" dirty="0"/>
            </a:br>
            <a:r>
              <a:rPr lang="en-US" dirty="0"/>
              <a:t>aka Scale Free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Properties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Robust to random breakdown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Vulnerable to targeted attacks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Viruses can persist even at low transmission rates</a:t>
            </a:r>
          </a:p>
          <a:p>
            <a:pPr>
              <a:buFont typeface="Wingdings" charset="2"/>
              <a:buChar char="Ø"/>
            </a:pPr>
            <a:r>
              <a:rPr lang="en-US" sz="2600" dirty="0" smtClean="0"/>
              <a:t>Real World Examples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Email Networks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World Wide Web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Intranets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Diseases with short transmission window</a:t>
            </a:r>
          </a:p>
          <a:p>
            <a:pPr lvl="1">
              <a:buFont typeface="Wingdings" charset="2"/>
              <a:buChar char="Ø"/>
            </a:pPr>
            <a:r>
              <a:rPr lang="en-US" sz="1800" dirty="0"/>
              <a:t>Needle Sharing</a:t>
            </a:r>
          </a:p>
          <a:p>
            <a:pPr lvl="1">
              <a:buFont typeface="Wingdings" charset="2"/>
              <a:buChar char="Ø"/>
            </a:pPr>
            <a:r>
              <a:rPr lang="en-US" sz="1800" dirty="0"/>
              <a:t>Sexual Contacts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9480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</a:t>
            </a:r>
            <a:r>
              <a:rPr lang="en-US" dirty="0" err="1" smtClean="0"/>
              <a:t>Descriptives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Density, Shortest Paths, Eccentricity, Clustering Coefficients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198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 of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The density of a graph measures how interconnected the nodes are.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Simply the proportion of possible edges that actually exist in the graph.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Let E be the number of edges in the graph, N the number of vertices. The density, </a:t>
            </a:r>
            <a:r>
              <a:rPr lang="en-US" dirty="0" err="1" smtClean="0"/>
              <a:t>Δ</a:t>
            </a:r>
            <a:r>
              <a:rPr lang="en-US" dirty="0" smtClean="0"/>
              <a:t>, is then: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dirty="0"/>
              <a:t> </a:t>
            </a:r>
            <a:r>
              <a:rPr lang="en-US" dirty="0" smtClean="0"/>
              <a:t>                                   For undirected graphs</a:t>
            </a:r>
          </a:p>
          <a:p>
            <a:pPr lvl="1">
              <a:buFont typeface="Wingdings" charset="2"/>
              <a:buChar char="Ø"/>
            </a:pPr>
            <a:endParaRPr lang="en-US" dirty="0"/>
          </a:p>
          <a:p>
            <a:pPr lvl="1"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endParaRPr lang="en-US" dirty="0"/>
          </a:p>
          <a:p>
            <a:pPr lvl="1">
              <a:buFont typeface="Wingdings" charset="2"/>
              <a:buChar char="Ø"/>
            </a:pPr>
            <a:r>
              <a:rPr lang="en-US" dirty="0" smtClean="0"/>
              <a:t>                                    For directed graphs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1100798" y="4201396"/>
          <a:ext cx="1951304" cy="1537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3" imgW="838200" imgH="660400" progId="Equation.3">
                  <p:embed/>
                </p:oleObj>
              </mc:Choice>
              <mc:Fallback>
                <p:oleObj name="Equation" r:id="rId3" imgW="838200" imgH="660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0798" y="4201396"/>
                        <a:ext cx="1951304" cy="1537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169717" y="5339049"/>
          <a:ext cx="1802949" cy="1420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5" imgW="838200" imgH="660400" progId="Equation.3">
                  <p:embed/>
                </p:oleObj>
              </mc:Choice>
              <mc:Fallback>
                <p:oleObj name="Equation" r:id="rId5" imgW="838200" imgH="660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9717" y="5339049"/>
                        <a:ext cx="1802949" cy="1420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96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 of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Several ways to consider density for a weighted graph depending on application.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Some use average strength of edges.</a:t>
            </a:r>
          </a:p>
        </p:txBody>
      </p:sp>
    </p:spTree>
    <p:extLst>
      <p:ext uri="{BB962C8B-B14F-4D97-AF65-F5344CB8AC3E}">
        <p14:creationId xmlns:p14="http://schemas.microsoft.com/office/powerpoint/2010/main" val="1315911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Shortest Paths</a:t>
            </a:r>
            <a:br>
              <a:rPr lang="en-US" dirty="0" smtClean="0"/>
            </a:br>
            <a:r>
              <a:rPr lang="en-US" sz="3200" dirty="0" smtClean="0"/>
              <a:t> (Geodesic Distances)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The </a:t>
            </a:r>
            <a:r>
              <a:rPr lang="en-US" b="1" dirty="0" smtClean="0"/>
              <a:t>geodesic or graph distance</a:t>
            </a:r>
            <a:r>
              <a:rPr lang="en-US" dirty="0" smtClean="0"/>
              <a:t> between two vertices is the length of the shortest path from one vertex to the other.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For directed graph, must be a directed path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2" name="Picture 1" descr="graphdistanc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2870896"/>
            <a:ext cx="5765800" cy="399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7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Diameter/Eccentricity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>
              <a:buFont typeface="Wingdings" charset="2"/>
              <a:buChar char="Ø"/>
            </a:pPr>
            <a:r>
              <a:rPr lang="en-US" b="1" dirty="0" smtClean="0"/>
              <a:t>Graph </a:t>
            </a:r>
            <a:r>
              <a:rPr lang="en-US" b="1" dirty="0"/>
              <a:t>Diameter</a:t>
            </a:r>
            <a:r>
              <a:rPr lang="en-US" dirty="0"/>
              <a:t>:  Largest Geodesic </a:t>
            </a:r>
            <a:r>
              <a:rPr lang="en-US" dirty="0" smtClean="0"/>
              <a:t>Distance in the whole network</a:t>
            </a:r>
          </a:p>
          <a:p>
            <a:pPr>
              <a:buFont typeface="Wingdings" charset="2"/>
              <a:buChar char="Ø"/>
            </a:pPr>
            <a:r>
              <a:rPr lang="en-US" b="1" dirty="0" smtClean="0"/>
              <a:t>Eccentricity of a node:  </a:t>
            </a:r>
            <a:r>
              <a:rPr lang="en-US" dirty="0" smtClean="0"/>
              <a:t>Distance to furthest node from that node.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graphdistanc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3256248"/>
            <a:ext cx="5448300" cy="37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11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Coefficient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The </a:t>
            </a:r>
            <a:r>
              <a:rPr lang="en-US" b="1" dirty="0" smtClean="0"/>
              <a:t>clustering coefficient</a:t>
            </a:r>
            <a:r>
              <a:rPr lang="en-US" dirty="0" smtClean="0"/>
              <a:t> of a node is a measure of the extent to which its neighbors are also neighbors of each other.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Measures </a:t>
            </a:r>
            <a:r>
              <a:rPr lang="en-US" b="1" dirty="0"/>
              <a:t>Transitivity</a:t>
            </a:r>
            <a:r>
              <a:rPr lang="en-US" dirty="0"/>
              <a:t>: if A is connected to B and B is connected to C what is the probability that A is connected to C</a:t>
            </a:r>
            <a:r>
              <a:rPr lang="en-US" dirty="0" smtClean="0"/>
              <a:t>?</a:t>
            </a:r>
            <a:endParaRPr lang="en-US" b="1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Ratio of number edges existing between neighbors to those that could possibly exist. </a:t>
            </a:r>
          </a:p>
        </p:txBody>
      </p:sp>
    </p:spTree>
    <p:extLst>
      <p:ext uri="{BB962C8B-B14F-4D97-AF65-F5344CB8AC3E}">
        <p14:creationId xmlns:p14="http://schemas.microsoft.com/office/powerpoint/2010/main" val="1744790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Coefficient</a:t>
            </a:r>
          </a:p>
        </p:txBody>
      </p:sp>
      <p:pic>
        <p:nvPicPr>
          <p:cNvPr id="6" name="Content Placeholder 5" descr="cluscoef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275" t="-3104" r="-34405" b="-1640"/>
          <a:stretch/>
        </p:blipFill>
        <p:spPr>
          <a:xfrm>
            <a:off x="457200" y="1600200"/>
            <a:ext cx="8618538" cy="4740275"/>
          </a:xfrm>
        </p:spPr>
      </p:pic>
    </p:spTree>
    <p:extLst>
      <p:ext uri="{BB962C8B-B14F-4D97-AF65-F5344CB8AC3E}">
        <p14:creationId xmlns:p14="http://schemas.microsoft.com/office/powerpoint/2010/main" val="805221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Coefficients for Entire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Measure the transitivity of the entire network – does the transitive property hold most of the time?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7"/>
          <p:cNvSpPr>
            <a:spLocks noChangeArrowheads="1"/>
          </p:cNvSpPr>
          <p:nvPr/>
        </p:nvSpPr>
        <p:spPr bwMode="auto">
          <a:xfrm rot="16200000">
            <a:off x="5084763" y="3502024"/>
            <a:ext cx="228600" cy="228600"/>
          </a:xfrm>
          <a:prstGeom prst="ellipse">
            <a:avLst/>
          </a:prstGeom>
          <a:noFill/>
          <a:ln w="38100">
            <a:solidFill>
              <a:srgbClr val="6076B4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5" name="Oval 14"/>
          <p:cNvSpPr>
            <a:spLocks noChangeArrowheads="1"/>
          </p:cNvSpPr>
          <p:nvPr/>
        </p:nvSpPr>
        <p:spPr bwMode="auto">
          <a:xfrm rot="16200000">
            <a:off x="4246563" y="4492624"/>
            <a:ext cx="228600" cy="228600"/>
          </a:xfrm>
          <a:prstGeom prst="ellipse">
            <a:avLst/>
          </a:prstGeom>
          <a:noFill/>
          <a:ln w="38100">
            <a:solidFill>
              <a:srgbClr val="6076B4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cxnSp>
        <p:nvCxnSpPr>
          <p:cNvPr id="6" name="AutoShape 19"/>
          <p:cNvCxnSpPr>
            <a:cxnSpLocks noChangeShapeType="1"/>
            <a:endCxn id="5" idx="5"/>
          </p:cNvCxnSpPr>
          <p:nvPr/>
        </p:nvCxnSpPr>
        <p:spPr bwMode="auto">
          <a:xfrm flipH="1">
            <a:off x="4459288" y="3695699"/>
            <a:ext cx="639762" cy="830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Oval 29"/>
          <p:cNvSpPr>
            <a:spLocks noChangeArrowheads="1"/>
          </p:cNvSpPr>
          <p:nvPr/>
        </p:nvSpPr>
        <p:spPr bwMode="auto">
          <a:xfrm rot="16200000">
            <a:off x="3865563" y="3425824"/>
            <a:ext cx="228600" cy="228600"/>
          </a:xfrm>
          <a:prstGeom prst="ellipse">
            <a:avLst/>
          </a:prstGeom>
          <a:noFill/>
          <a:ln w="38100">
            <a:solidFill>
              <a:srgbClr val="6076B4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cxnSp>
        <p:nvCxnSpPr>
          <p:cNvPr id="8" name="AutoShape 30"/>
          <p:cNvCxnSpPr>
            <a:cxnSpLocks noChangeShapeType="1"/>
          </p:cNvCxnSpPr>
          <p:nvPr/>
        </p:nvCxnSpPr>
        <p:spPr bwMode="auto">
          <a:xfrm>
            <a:off x="4094163" y="3578224"/>
            <a:ext cx="952500" cy="762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" name="Line 32"/>
          <p:cNvSpPr>
            <a:spLocks noChangeShapeType="1"/>
          </p:cNvSpPr>
          <p:nvPr/>
        </p:nvSpPr>
        <p:spPr bwMode="auto">
          <a:xfrm>
            <a:off x="4017963" y="3654424"/>
            <a:ext cx="3048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3403600" y="3194049"/>
            <a:ext cx="377039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2"/>
                </a:solidFill>
                <a:latin typeface="Arial Black" charset="0"/>
                <a:cs typeface="Arial" charset="0"/>
              </a:rPr>
              <a:t>A</a:t>
            </a:r>
          </a:p>
        </p:txBody>
      </p:sp>
      <p:sp>
        <p:nvSpPr>
          <p:cNvPr id="11" name="Text Box 50"/>
          <p:cNvSpPr txBox="1">
            <a:spLocks noChangeArrowheads="1"/>
          </p:cNvSpPr>
          <p:nvPr/>
        </p:nvSpPr>
        <p:spPr bwMode="auto">
          <a:xfrm>
            <a:off x="3708400" y="4413249"/>
            <a:ext cx="3642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2F5897"/>
                </a:solidFill>
                <a:latin typeface="Arial Black" charset="0"/>
                <a:cs typeface="Arial" charset="0"/>
              </a:rPr>
              <a:t>B</a:t>
            </a:r>
          </a:p>
        </p:txBody>
      </p:sp>
      <p:sp>
        <p:nvSpPr>
          <p:cNvPr id="12" name="Text Box 51"/>
          <p:cNvSpPr txBox="1">
            <a:spLocks noChangeArrowheads="1"/>
          </p:cNvSpPr>
          <p:nvPr/>
        </p:nvSpPr>
        <p:spPr bwMode="auto">
          <a:xfrm>
            <a:off x="5461000" y="3346449"/>
            <a:ext cx="3642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2F5897"/>
                </a:solidFill>
                <a:latin typeface="Arial Black" charset="0"/>
                <a:cs typeface="Arial" charset="0"/>
              </a:rPr>
              <a:t>C</a:t>
            </a:r>
          </a:p>
        </p:txBody>
      </p:sp>
      <p:sp>
        <p:nvSpPr>
          <p:cNvPr id="13" name="Text Box 52"/>
          <p:cNvSpPr txBox="1">
            <a:spLocks noChangeArrowheads="1"/>
          </p:cNvSpPr>
          <p:nvPr/>
        </p:nvSpPr>
        <p:spPr bwMode="auto">
          <a:xfrm>
            <a:off x="4432300" y="3130549"/>
            <a:ext cx="3256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 Black" charset="0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6870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Coefficients for Entire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Network Average Clustering Coefficient: Simply average the clustering coefficient for each node.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Global Clustering Coefficient: 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/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Connected </a:t>
            </a:r>
            <a:r>
              <a:rPr lang="en-US" sz="2000" dirty="0"/>
              <a:t>triple is 3 vertices joined by 2 edges. </a:t>
            </a:r>
            <a:endParaRPr lang="en-US" sz="2000" dirty="0" smtClean="0"/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Each triangle </a:t>
            </a:r>
            <a:r>
              <a:rPr lang="en-US" sz="2000" dirty="0"/>
              <a:t>makes 3 connected triple</a:t>
            </a:r>
            <a:r>
              <a:rPr lang="en-US" sz="2000" dirty="0" smtClean="0"/>
              <a:t>.</a:t>
            </a:r>
            <a:endParaRPr lang="en-US" sz="2000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866899" y="3568700"/>
          <a:ext cx="551553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" imgW="2717800" imgH="431800" progId="Equation.3">
                  <p:embed/>
                </p:oleObj>
              </mc:Choice>
              <mc:Fallback>
                <p:oleObj name="Equation" r:id="rId3" imgW="27178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6899" y="3568700"/>
                        <a:ext cx="5515535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7874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err="1" smtClean="0">
                <a:hlinkClick r:id="rId2"/>
              </a:rPr>
              <a:t>www.socilab.com</a:t>
            </a: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>
                <a:hlinkClick r:id="rId3"/>
              </a:rPr>
              <a:t>www.theyrule.net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95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3832</TotalTime>
  <Words>890</Words>
  <Application>Microsoft Macintosh PowerPoint</Application>
  <PresentationFormat>On-screen Show (4:3)</PresentationFormat>
  <Paragraphs>185</Paragraphs>
  <Slides>29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Andale Mono</vt:lpstr>
      <vt:lpstr>Arial</vt:lpstr>
      <vt:lpstr>Arial Black</vt:lpstr>
      <vt:lpstr>Calibri</vt:lpstr>
      <vt:lpstr>Century Gothic</vt:lpstr>
      <vt:lpstr>Courier New</vt:lpstr>
      <vt:lpstr>Palatino Linotype</vt:lpstr>
      <vt:lpstr>Wingdings</vt:lpstr>
      <vt:lpstr>Executive</vt:lpstr>
      <vt:lpstr>Equation</vt:lpstr>
      <vt:lpstr>Network Analysis</vt:lpstr>
      <vt:lpstr>Descriptives of Network Structure</vt:lpstr>
      <vt:lpstr>Connected Components</vt:lpstr>
      <vt:lpstr>Connected Components (in Directed Networks)</vt:lpstr>
      <vt:lpstr>Pop Quiz</vt:lpstr>
      <vt:lpstr>Solution</vt:lpstr>
      <vt:lpstr>Bridges and Brokers</vt:lpstr>
      <vt:lpstr>Cliques (aka Complete Graphs)</vt:lpstr>
      <vt:lpstr>N-Cliques </vt:lpstr>
      <vt:lpstr>Nodal Degree</vt:lpstr>
      <vt:lpstr>Nodal Degree</vt:lpstr>
      <vt:lpstr>Nodal Degree</vt:lpstr>
      <vt:lpstr>Nodal Degree</vt:lpstr>
      <vt:lpstr>Nodal Degree</vt:lpstr>
      <vt:lpstr>Degree Distribution</vt:lpstr>
      <vt:lpstr>Degree Distributions</vt:lpstr>
      <vt:lpstr>Power Law</vt:lpstr>
      <vt:lpstr>Power Law Graphs aka Scale Free Networks</vt:lpstr>
      <vt:lpstr>Power Law Graphs aka Scale Free Networks</vt:lpstr>
      <vt:lpstr>Other Descriptives</vt:lpstr>
      <vt:lpstr>Density of Graph</vt:lpstr>
      <vt:lpstr>Density of Graph</vt:lpstr>
      <vt:lpstr>Shortest Paths  (Geodesic Distances)</vt:lpstr>
      <vt:lpstr>Diameter/Eccentricity</vt:lpstr>
      <vt:lpstr>Clustering Coefficient</vt:lpstr>
      <vt:lpstr>Clustering Coefficient</vt:lpstr>
      <vt:lpstr>Clustering Coefficients for Entire Network</vt:lpstr>
      <vt:lpstr>Clustering Coefficients for Entire Network</vt:lpstr>
      <vt:lpstr>Fun Links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Network Analysis</dc:title>
  <dc:creator>Shaina</dc:creator>
  <cp:lastModifiedBy>Shaina L Race</cp:lastModifiedBy>
  <cp:revision>80</cp:revision>
  <cp:lastPrinted>2017-03-14T13:52:55Z</cp:lastPrinted>
  <dcterms:created xsi:type="dcterms:W3CDTF">2016-02-08T21:02:21Z</dcterms:created>
  <dcterms:modified xsi:type="dcterms:W3CDTF">2018-03-05T17:40:33Z</dcterms:modified>
</cp:coreProperties>
</file>