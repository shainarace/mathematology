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5"/>
  </p:notesMasterIdLst>
  <p:sldIdLst>
    <p:sldId id="257" r:id="rId2"/>
    <p:sldId id="256" r:id="rId3"/>
    <p:sldId id="258" r:id="rId4"/>
    <p:sldId id="259" r:id="rId5"/>
    <p:sldId id="266" r:id="rId6"/>
    <p:sldId id="267" r:id="rId7"/>
    <p:sldId id="268" r:id="rId8"/>
    <p:sldId id="280" r:id="rId9"/>
    <p:sldId id="269" r:id="rId10"/>
    <p:sldId id="260" r:id="rId11"/>
    <p:sldId id="261" r:id="rId12"/>
    <p:sldId id="270" r:id="rId13"/>
    <p:sldId id="262" r:id="rId14"/>
    <p:sldId id="263" r:id="rId15"/>
    <p:sldId id="272" r:id="rId16"/>
    <p:sldId id="275" r:id="rId17"/>
    <p:sldId id="279" r:id="rId18"/>
    <p:sldId id="273" r:id="rId19"/>
    <p:sldId id="274" r:id="rId20"/>
    <p:sldId id="271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napToObjects="1">
      <p:cViewPr>
        <p:scale>
          <a:sx n="121" d="100"/>
          <a:sy n="121" d="100"/>
        </p:scale>
        <p:origin x="1904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93A96-BF7B-C54A-B765-B5A3994AE4F6}" type="datetimeFigureOut">
              <a:rPr lang="en-US" smtClean="0"/>
              <a:t>3/30/18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A7D8A2-2121-1245-9389-0C4CBADD9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227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Fundamentally</a:t>
            </a:r>
            <a:r>
              <a:rPr lang="en-US" baseline="0" dirty="0" smtClean="0"/>
              <a:t> changing the structure of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A7D8A2-2121-1245-9389-0C4CBADD936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661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Compute</a:t>
            </a:r>
            <a:r>
              <a:rPr lang="en-US" baseline="0" dirty="0" smtClean="0"/>
              <a:t> a matrix of similarities/differences. |</a:t>
            </a:r>
            <a:r>
              <a:rPr lang="en-US" baseline="0" dirty="0" err="1" smtClean="0"/>
              <a:t>x_i</a:t>
            </a:r>
            <a:r>
              <a:rPr lang="en-US" baseline="0" dirty="0" smtClean="0"/>
              <a:t> – </a:t>
            </a:r>
            <a:r>
              <a:rPr lang="en-US" baseline="0" dirty="0" err="1" smtClean="0"/>
              <a:t>x_j</a:t>
            </a:r>
            <a:r>
              <a:rPr lang="en-US" baseline="0" dirty="0" smtClean="0"/>
              <a:t>| for instance. see if this correlates with network distance (geodesic distance)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A7D8A2-2121-1245-9389-0C4CBADD936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775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97E3F-65FC-9A4B-9696-0145BD8B30B6}" type="datetimeFigureOut">
              <a:rPr lang="en-US" smtClean="0"/>
              <a:t>3/30/18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39E904-9FFA-964F-9A6B-9759CEDE964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97E3F-65FC-9A4B-9696-0145BD8B30B6}" type="datetimeFigureOut">
              <a:rPr lang="en-US" smtClean="0"/>
              <a:t>3/30/18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E904-9FFA-964F-9A6B-9759CEDE96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97E3F-65FC-9A4B-9696-0145BD8B30B6}" type="datetimeFigureOut">
              <a:rPr lang="en-US" smtClean="0"/>
              <a:t>3/30/18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E904-9FFA-964F-9A6B-9759CEDE964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97E3F-65FC-9A4B-9696-0145BD8B30B6}" type="datetimeFigureOut">
              <a:rPr lang="en-US" smtClean="0"/>
              <a:t>3/30/18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E904-9FFA-964F-9A6B-9759CEDE964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97E3F-65FC-9A4B-9696-0145BD8B30B6}" type="datetimeFigureOut">
              <a:rPr lang="en-US" smtClean="0"/>
              <a:t>3/30/18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E904-9FFA-964F-9A6B-9759CEDE964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97E3F-65FC-9A4B-9696-0145BD8B30B6}" type="datetimeFigureOut">
              <a:rPr lang="en-US" smtClean="0"/>
              <a:t>3/30/18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E904-9FFA-964F-9A6B-9759CEDE96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97E3F-65FC-9A4B-9696-0145BD8B30B6}" type="datetimeFigureOut">
              <a:rPr lang="en-US" smtClean="0"/>
              <a:t>3/30/18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E904-9FFA-964F-9A6B-9759CEDE96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97E3F-65FC-9A4B-9696-0145BD8B30B6}" type="datetimeFigureOut">
              <a:rPr lang="en-US" smtClean="0"/>
              <a:t>3/30/18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E904-9FFA-964F-9A6B-9759CEDE96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97E3F-65FC-9A4B-9696-0145BD8B30B6}" type="datetimeFigureOut">
              <a:rPr lang="en-US" smtClean="0"/>
              <a:t>3/30/18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E904-9FFA-964F-9A6B-9759CEDE96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97E3F-65FC-9A4B-9696-0145BD8B30B6}" type="datetimeFigureOut">
              <a:rPr lang="en-US" smtClean="0"/>
              <a:t>3/30/18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E904-9FFA-964F-9A6B-9759CEDE96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97E3F-65FC-9A4B-9696-0145BD8B30B6}" type="datetimeFigureOut">
              <a:rPr lang="en-US" smtClean="0"/>
              <a:t>3/30/18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9E904-9FFA-964F-9A6B-9759CEDE96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A5397E3F-65FC-9A4B-9696-0145BD8B30B6}" type="datetimeFigureOut">
              <a:rPr lang="en-US" smtClean="0"/>
              <a:t>3/30/18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539E904-9FFA-964F-9A6B-9759CEDE964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79247"/>
            <a:ext cx="7772400" cy="3429644"/>
          </a:xfrm>
        </p:spPr>
        <p:txBody>
          <a:bodyPr/>
          <a:lstStyle/>
          <a:p>
            <a:r>
              <a:rPr lang="en-US" dirty="0"/>
              <a:t>Network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Dr. Shaina Race</a:t>
            </a:r>
          </a:p>
          <a:p>
            <a:r>
              <a:rPr lang="en-US" dirty="0"/>
              <a:t>Institute for Advanced Analytics</a:t>
            </a:r>
          </a:p>
          <a:p>
            <a:endParaRPr lang="en-US" dirty="0"/>
          </a:p>
          <a:p>
            <a:r>
              <a:rPr lang="en-US" dirty="0"/>
              <a:t>Spring </a:t>
            </a:r>
            <a:r>
              <a:rPr lang="en-US" dirty="0" smtClean="0"/>
              <a:t>2017</a:t>
            </a: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710922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Hypothesis Testing for Networks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823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Individual Level Hypotheses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charset="2"/>
              <a:buChar char="Ø"/>
            </a:pPr>
            <a:endParaRPr lang="en-US" dirty="0" smtClean="0"/>
          </a:p>
          <a:p>
            <a:pPr>
              <a:lnSpc>
                <a:spcPct val="150000"/>
              </a:lnSpc>
              <a:buFont typeface="Wingdings" charset="2"/>
              <a:buChar char="Ø"/>
            </a:pPr>
            <a:r>
              <a:rPr lang="en-US" dirty="0" smtClean="0"/>
              <a:t>Does the social capital of legislators predict success of the bills they sponsor?</a:t>
            </a:r>
          </a:p>
          <a:p>
            <a:pPr>
              <a:lnSpc>
                <a:spcPct val="150000"/>
              </a:lnSpc>
              <a:buFont typeface="Wingdings" charset="2"/>
              <a:buChar char="Ø"/>
            </a:pPr>
            <a:r>
              <a:rPr lang="en-US" dirty="0" smtClean="0"/>
              <a:t>Does organizational connectedness predict speed of promotion?</a:t>
            </a:r>
          </a:p>
          <a:p>
            <a:pPr>
              <a:lnSpc>
                <a:spcPct val="150000"/>
              </a:lnSpc>
              <a:buFont typeface="Wingdings" charset="2"/>
              <a:buChar char="Ø"/>
            </a:pPr>
            <a:r>
              <a:rPr lang="en-US" dirty="0" smtClean="0"/>
              <a:t>Does </a:t>
            </a:r>
            <a:r>
              <a:rPr lang="en-US" dirty="0" smtClean="0"/>
              <a:t>out-degree in an advice network predict learning?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169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Observations not independent</a:t>
            </a:r>
            <a:r>
              <a:rPr lang="en-US" dirty="0" smtClean="0"/>
              <a:t>!</a:t>
            </a:r>
          </a:p>
          <a:p>
            <a:pPr marL="457200" indent="-457200">
              <a:buFont typeface="+mj-lt"/>
              <a:buAutoNum type="arabicPeriod"/>
            </a:pPr>
            <a:endParaRPr lang="en-US" dirty="0" smtClean="0"/>
          </a:p>
          <a:p>
            <a:pPr lvl="1">
              <a:lnSpc>
                <a:spcPct val="150000"/>
              </a:lnSpc>
              <a:buFont typeface="Wingdings" charset="2"/>
              <a:buChar char="Ø"/>
            </a:pPr>
            <a:r>
              <a:rPr lang="en-US" sz="1800" dirty="0" smtClean="0"/>
              <a:t>If I have a high centrality, yours may go up by association</a:t>
            </a:r>
          </a:p>
          <a:p>
            <a:pPr lvl="1">
              <a:lnSpc>
                <a:spcPct val="150000"/>
              </a:lnSpc>
              <a:buFont typeface="Wingdings" charset="2"/>
              <a:buChar char="Ø"/>
            </a:pPr>
            <a:r>
              <a:rPr lang="en-US" sz="1800" dirty="0" smtClean="0"/>
              <a:t>My connectedness/connections influence yours</a:t>
            </a:r>
          </a:p>
          <a:p>
            <a:pPr lvl="1">
              <a:lnSpc>
                <a:spcPct val="150000"/>
              </a:lnSpc>
              <a:buFont typeface="Wingdings" charset="2"/>
              <a:buChar char="Ø"/>
            </a:pPr>
            <a:r>
              <a:rPr lang="en-US" sz="1800" dirty="0" smtClean="0"/>
              <a:t>Undirected networks force reciprocal links</a:t>
            </a:r>
          </a:p>
          <a:p>
            <a:pPr lvl="1">
              <a:lnSpc>
                <a:spcPct val="150000"/>
              </a:lnSpc>
              <a:buFont typeface="Wingdings" charset="2"/>
              <a:buChar char="Ø"/>
            </a:pPr>
            <a:r>
              <a:rPr lang="en-US" sz="1800" dirty="0" smtClean="0"/>
              <a:t>Social connections have other limiting factors: time, money, freedom, happenstance.</a:t>
            </a:r>
          </a:p>
          <a:p>
            <a:pPr lvl="1"/>
            <a:endParaRPr lang="en-US" sz="18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186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 smtClean="0"/>
              <a:t>Often not a random sample.</a:t>
            </a:r>
          </a:p>
          <a:p>
            <a:pPr marL="857250" lvl="1" indent="-457200">
              <a:lnSpc>
                <a:spcPct val="150000"/>
              </a:lnSpc>
              <a:buFont typeface="Wingdings" charset="2"/>
              <a:buChar char="Ø"/>
            </a:pPr>
            <a:r>
              <a:rPr lang="en-US" sz="1800" dirty="0" smtClean="0"/>
              <a:t>How useful would a random sample be if we’re interested in relationships?</a:t>
            </a:r>
          </a:p>
          <a:p>
            <a:pPr marL="857250" lvl="1" indent="-457200">
              <a:lnSpc>
                <a:spcPct val="150000"/>
              </a:lnSpc>
              <a:buFont typeface="Wingdings" charset="2"/>
              <a:buChar char="Ø"/>
            </a:pPr>
            <a:r>
              <a:rPr lang="en-US" sz="1800" dirty="0" smtClean="0"/>
              <a:t>Snowball sampling </a:t>
            </a:r>
          </a:p>
          <a:p>
            <a:pPr marL="857250" lvl="1" indent="-457200">
              <a:lnSpc>
                <a:spcPct val="150000"/>
              </a:lnSpc>
              <a:buFont typeface="Wingdings" charset="2"/>
              <a:buChar char="Ø"/>
            </a:pPr>
            <a:r>
              <a:rPr lang="en-US" sz="1800" dirty="0" smtClean="0"/>
              <a:t>=&gt; Population distribution of variables unknown</a:t>
            </a:r>
          </a:p>
          <a:p>
            <a:pPr marL="857250" lvl="1" indent="-457200"/>
            <a:endParaRPr lang="en-US" sz="1800" dirty="0"/>
          </a:p>
          <a:p>
            <a:pPr marL="457200" indent="-457200">
              <a:buFont typeface="+mj-lt"/>
              <a:buAutoNum type="arabicPeriod" startAt="2"/>
            </a:pPr>
            <a:r>
              <a:rPr lang="en-US" sz="2600" dirty="0" smtClean="0"/>
              <a:t>Because of #1 &amp; #2, cannot compute significance through traditional tests.</a:t>
            </a:r>
          </a:p>
          <a:p>
            <a:pPr marL="857250" lvl="1" indent="-457200">
              <a:lnSpc>
                <a:spcPct val="150000"/>
              </a:lnSpc>
              <a:buFont typeface="Wingdings" charset="2"/>
              <a:buChar char="Ø"/>
            </a:pPr>
            <a:r>
              <a:rPr lang="en-US" sz="1800" dirty="0" smtClean="0"/>
              <a:t>Can compute correlations and statistics but cannot speak to their statistical significance.</a:t>
            </a:r>
          </a:p>
          <a:p>
            <a:pPr marL="857250" lvl="1" indent="-457200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97784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charset="2"/>
              <a:buChar char="Ø"/>
            </a:pPr>
            <a:r>
              <a:rPr lang="en-US" sz="2800" b="1" dirty="0" smtClean="0">
                <a:solidFill>
                  <a:srgbClr val="2F5897"/>
                </a:solidFill>
              </a:rPr>
              <a:t>Permutation Tests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Simulate the null hypothesis: No association/difference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Take one column of data and shuffle (permute) it randomly</a:t>
            </a:r>
            <a:endParaRPr lang="en-US" sz="2400" dirty="0"/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Calculate the statistic of interest on the shuffled data.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Repeat many times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Get distribution of values you might expect to find if there were no association/difference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See where the value from the original observed data falls in that distribution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545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7263"/>
          </a:xfrm>
        </p:spPr>
        <p:txBody>
          <a:bodyPr>
            <a:normAutofit/>
          </a:bodyPr>
          <a:lstStyle/>
          <a:p>
            <a:pPr>
              <a:buFont typeface="Wingdings" charset="2"/>
              <a:buChar char="Ø"/>
            </a:pPr>
            <a:r>
              <a:rPr lang="en-US" dirty="0" smtClean="0"/>
              <a:t>Trust </a:t>
            </a:r>
            <a:r>
              <a:rPr lang="en-US" dirty="0" smtClean="0"/>
              <a:t>network from an organization. 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Ask employees questions on team feedback “I trust this individual to operate effectively and efficiently with minimal guidance”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Want to know if an </a:t>
            </a:r>
            <a:r>
              <a:rPr lang="en-US" dirty="0" smtClean="0"/>
              <a:t>individual’s </a:t>
            </a:r>
            <a:r>
              <a:rPr lang="en-US" dirty="0" smtClean="0"/>
              <a:t>trustworthiness is related </a:t>
            </a:r>
            <a:r>
              <a:rPr lang="en-US" dirty="0" smtClean="0"/>
              <a:t>tenure </a:t>
            </a:r>
            <a:r>
              <a:rPr lang="en-US" dirty="0" smtClean="0"/>
              <a:t>with company.</a:t>
            </a:r>
            <a:endParaRPr lang="en-US" u="sng" dirty="0"/>
          </a:p>
          <a:p>
            <a:pPr>
              <a:buFont typeface="Wingdings" charset="2"/>
              <a:buChar char="Ø"/>
            </a:pPr>
            <a:endParaRPr lang="en-US" u="sng" dirty="0" smtClean="0"/>
          </a:p>
          <a:p>
            <a:pPr>
              <a:buFont typeface="Wingdings" charset="2"/>
              <a:buChar char="Ø"/>
            </a:pPr>
            <a:r>
              <a:rPr lang="en-US" u="sng" dirty="0" smtClean="0"/>
              <a:t>Hypothesis</a:t>
            </a:r>
            <a:r>
              <a:rPr lang="en-US" dirty="0" smtClean="0"/>
              <a:t>: In-Degree is correlated with tenure. (observed r=0.39)</a:t>
            </a:r>
          </a:p>
        </p:txBody>
      </p:sp>
    </p:spTree>
    <p:extLst>
      <p:ext uri="{BB962C8B-B14F-4D97-AF65-F5344CB8AC3E}">
        <p14:creationId xmlns:p14="http://schemas.microsoft.com/office/powerpoint/2010/main" val="953541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7263"/>
          </a:xfrm>
        </p:spPr>
        <p:txBody>
          <a:bodyPr>
            <a:normAutofit lnSpcReduction="10000"/>
          </a:bodyPr>
          <a:lstStyle/>
          <a:p>
            <a:pPr>
              <a:buFont typeface="Wingdings" charset="2"/>
              <a:buChar char="Ø"/>
            </a:pPr>
            <a:r>
              <a:rPr lang="en-US" u="sng" dirty="0" smtClean="0"/>
              <a:t>Hypothesis</a:t>
            </a:r>
            <a:r>
              <a:rPr lang="en-US" dirty="0"/>
              <a:t>: In-Degree is correlated with tenure. (observed r=0.39)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A p-value is the probability we got that result if there is truly no relationship. 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So simulate what it looks like when there is truly no relationship! </a:t>
            </a:r>
          </a:p>
          <a:p>
            <a:pPr marL="0" indent="0" algn="ctr">
              <a:buNone/>
            </a:pPr>
            <a:r>
              <a:rPr lang="en-US" dirty="0" smtClean="0"/>
              <a:t> 	</a:t>
            </a:r>
            <a:r>
              <a:rPr lang="en-US" u="sng" dirty="0" smtClean="0"/>
              <a:t>Degree</a:t>
            </a:r>
            <a:r>
              <a:rPr lang="en-US" dirty="0" smtClean="0"/>
              <a:t>	</a:t>
            </a:r>
            <a:r>
              <a:rPr lang="en-US" u="sng" dirty="0" smtClean="0"/>
              <a:t>Tenure</a:t>
            </a:r>
          </a:p>
          <a:p>
            <a:pPr marL="0" indent="0" algn="ctr">
              <a:buNone/>
            </a:pPr>
            <a:r>
              <a:rPr lang="en-US" dirty="0"/>
              <a:t>	</a:t>
            </a:r>
            <a:r>
              <a:rPr lang="en-US" dirty="0" smtClean="0"/>
              <a:t>1			2</a:t>
            </a:r>
          </a:p>
          <a:p>
            <a:pPr marL="0" indent="0" algn="ctr">
              <a:buNone/>
            </a:pPr>
            <a:r>
              <a:rPr lang="en-US" dirty="0"/>
              <a:t>	</a:t>
            </a:r>
            <a:r>
              <a:rPr lang="en-US" dirty="0" smtClean="0"/>
              <a:t>2			1</a:t>
            </a:r>
          </a:p>
          <a:p>
            <a:pPr marL="0" indent="0" algn="ctr">
              <a:buNone/>
            </a:pPr>
            <a:r>
              <a:rPr lang="en-US" dirty="0"/>
              <a:t>	</a:t>
            </a:r>
            <a:r>
              <a:rPr lang="en-US" dirty="0" smtClean="0"/>
              <a:t>4</a:t>
            </a:r>
            <a:r>
              <a:rPr lang="en-US" dirty="0"/>
              <a:t>	</a:t>
            </a:r>
            <a:r>
              <a:rPr lang="en-US" dirty="0" smtClean="0"/>
              <a:t>		2</a:t>
            </a:r>
          </a:p>
          <a:p>
            <a:pPr marL="0" indent="0" algn="ctr">
              <a:buNone/>
            </a:pPr>
            <a:r>
              <a:rPr lang="en-US" dirty="0"/>
              <a:t>	</a:t>
            </a:r>
            <a:r>
              <a:rPr lang="en-US" dirty="0" smtClean="0"/>
              <a:t>5			3</a:t>
            </a:r>
          </a:p>
          <a:p>
            <a:pPr marL="0" indent="0">
              <a:buNone/>
            </a:pPr>
            <a:r>
              <a:rPr lang="en-US" dirty="0" smtClean="0"/>
              <a:t>          			          …              …</a:t>
            </a:r>
          </a:p>
        </p:txBody>
      </p:sp>
    </p:spTree>
    <p:extLst>
      <p:ext uri="{BB962C8B-B14F-4D97-AF65-F5344CB8AC3E}">
        <p14:creationId xmlns:p14="http://schemas.microsoft.com/office/powerpoint/2010/main" val="1467918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18138"/>
          </a:xfrm>
        </p:spPr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3" name="Picture 2" descr="Rplot.jpe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" y="1274815"/>
            <a:ext cx="8521700" cy="5219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0717" y="1685769"/>
            <a:ext cx="21060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 simulation had correlation ≥ 0.39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=&gt; p-value is 0.001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6142354" y="2886098"/>
            <a:ext cx="656166" cy="221191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1215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Dyad Level Hypothesis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Does homework group membership correlate with outside social interactions?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Do people with strong social bonds tend to have many friends in common?</a:t>
            </a:r>
          </a:p>
          <a:p>
            <a:endParaRPr lang="en-US" dirty="0"/>
          </a:p>
          <a:p>
            <a:pPr>
              <a:buFont typeface="Wingdings" charset="2"/>
              <a:buChar char="Ø"/>
            </a:pPr>
            <a:r>
              <a:rPr lang="en-US" dirty="0" smtClean="0">
                <a:solidFill>
                  <a:srgbClr val="2F5897"/>
                </a:solidFill>
              </a:rPr>
              <a:t>Challenge: </a:t>
            </a:r>
            <a:r>
              <a:rPr lang="en-US" dirty="0" smtClean="0"/>
              <a:t>Correlating two adjacency matrices or comparing network statistics (which are based on two adjacency matrices)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019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>
                <a:solidFill>
                  <a:srgbClr val="2F5897"/>
                </a:solidFill>
              </a:rPr>
              <a:t>All the same problems listed previously.</a:t>
            </a:r>
          </a:p>
          <a:p>
            <a:pPr>
              <a:buFont typeface="Wingdings" charset="2"/>
              <a:buChar char="Ø"/>
            </a:pPr>
            <a:endParaRPr lang="en-US" dirty="0">
              <a:solidFill>
                <a:srgbClr val="2F5897"/>
              </a:solidFill>
            </a:endParaRPr>
          </a:p>
          <a:p>
            <a:pPr>
              <a:buFont typeface="Wingdings" charset="2"/>
              <a:buChar char="Ø"/>
            </a:pPr>
            <a:r>
              <a:rPr lang="en-US" dirty="0" smtClean="0">
                <a:solidFill>
                  <a:srgbClr val="2F5897"/>
                </a:solidFill>
              </a:rPr>
              <a:t>Solution #1: Turn the adjacency matrices into vectors. Simulate as before by randomly permuting one of the vectors</a:t>
            </a:r>
            <a:r>
              <a:rPr lang="en-US" dirty="0" smtClean="0">
                <a:solidFill>
                  <a:srgbClr val="2F5897"/>
                </a:solidFill>
              </a:rPr>
              <a:t>.</a:t>
            </a:r>
          </a:p>
          <a:p>
            <a:pPr>
              <a:buFont typeface="Wingdings" charset="2"/>
              <a:buChar char="Ø"/>
            </a:pPr>
            <a:endParaRPr lang="en-US" dirty="0">
              <a:solidFill>
                <a:srgbClr val="2F5897"/>
              </a:solidFill>
            </a:endParaRPr>
          </a:p>
          <a:p>
            <a:pPr>
              <a:buFont typeface="Wingdings" charset="2"/>
              <a:buChar char="Ø"/>
            </a:pPr>
            <a:r>
              <a:rPr lang="en-US" dirty="0" smtClean="0">
                <a:solidFill>
                  <a:srgbClr val="2F5897"/>
                </a:solidFill>
              </a:rPr>
              <a:t>Problem with Solution #1: Randomly permuting one of the vectors does not handle the full range of dependencies between dyads. </a:t>
            </a:r>
          </a:p>
          <a:p>
            <a:pPr lvl="1"/>
            <a:endParaRPr lang="en-US" dirty="0">
              <a:solidFill>
                <a:srgbClr val="2F589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174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charset="2"/>
              <a:buChar char="Ø"/>
            </a:pPr>
            <a:r>
              <a:rPr lang="en-US" sz="2800" b="1" dirty="0" smtClean="0">
                <a:solidFill>
                  <a:schemeClr val="tx2"/>
                </a:solidFill>
              </a:rPr>
              <a:t>QAP Approach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>
                <a:solidFill>
                  <a:schemeClr val="accent6"/>
                </a:solidFill>
              </a:rPr>
              <a:t>Randomly permute rows AND columns of one matrix using the same permutation.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>
                <a:solidFill>
                  <a:schemeClr val="accent6"/>
                </a:solidFill>
              </a:rPr>
              <a:t>In essence, this just re-labels the nodes in one matrix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>
                <a:solidFill>
                  <a:schemeClr val="accent6"/>
                </a:solidFill>
              </a:rPr>
              <a:t>Then compare the permuted matrix with second matrix, record statistic of interest, and repeat many times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Compute </a:t>
            </a:r>
            <a:r>
              <a:rPr lang="en-US" sz="2400" dirty="0"/>
              <a:t>proportion of trials that produced a result equal to or stronger </a:t>
            </a:r>
            <a:r>
              <a:rPr lang="en-US" sz="2400" dirty="0" smtClean="0"/>
              <a:t>than </a:t>
            </a:r>
            <a:r>
              <a:rPr lang="en-US" sz="2400" dirty="0"/>
              <a:t>the one </a:t>
            </a:r>
            <a:r>
              <a:rPr lang="en-US" sz="2400" dirty="0" smtClean="0"/>
              <a:t>found. This is your p-value.</a:t>
            </a:r>
            <a:endParaRPr lang="en-US" sz="2400" dirty="0"/>
          </a:p>
          <a:p>
            <a:pPr lvl="1"/>
            <a:endParaRPr lang="en-US" sz="2400" dirty="0" smtClean="0">
              <a:solidFill>
                <a:schemeClr val="accent6"/>
              </a:solidFill>
            </a:endParaRPr>
          </a:p>
          <a:p>
            <a:pPr lvl="1"/>
            <a:endParaRPr lang="en-US" sz="2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9371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Level Hypothesis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/>
              <a:t>Is the density of a trust network in a practicum group associated with better performance</a:t>
            </a:r>
            <a:r>
              <a:rPr lang="en-US" dirty="0" smtClean="0"/>
              <a:t>?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Is the </a:t>
            </a:r>
            <a:r>
              <a:rPr lang="en-US" dirty="0" err="1" smtClean="0"/>
              <a:t>clusterability</a:t>
            </a:r>
            <a:r>
              <a:rPr lang="en-US" dirty="0" smtClean="0"/>
              <a:t> of high-school social network associated with higher incidence of fights?  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770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 Problem!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As long as the individual networks are selected randomly from the population of networks, we can use traditional statistical tests.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650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Autocorrelation</a:t>
            </a:r>
            <a:br>
              <a:rPr lang="en-US" dirty="0" smtClean="0"/>
            </a:br>
            <a:r>
              <a:rPr lang="en-US" sz="4000" dirty="0" smtClean="0"/>
              <a:t>(Ordinal/Continuous)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Mixing </a:t>
            </a:r>
            <a:r>
              <a:rPr lang="en-US" dirty="0" smtClean="0">
                <a:solidFill>
                  <a:schemeClr val="accent5"/>
                </a:solidFill>
              </a:rPr>
              <a:t>dyadic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E68422"/>
                </a:solidFill>
              </a:rPr>
              <a:t>individual</a:t>
            </a:r>
            <a:r>
              <a:rPr lang="en-US" dirty="0" smtClean="0"/>
              <a:t> variables.</a:t>
            </a:r>
          </a:p>
          <a:p>
            <a:pPr lvl="1">
              <a:buFont typeface="Wingdings" charset="2"/>
              <a:buChar char="Ø"/>
            </a:pPr>
            <a:r>
              <a:rPr lang="en-US" dirty="0" smtClean="0"/>
              <a:t>one variable is the network, another is for each node/individual</a:t>
            </a:r>
          </a:p>
          <a:p>
            <a:endParaRPr lang="en-US" dirty="0" smtClean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tx2"/>
                </a:solidFill>
              </a:rPr>
              <a:t>Example: </a:t>
            </a:r>
          </a:p>
          <a:p>
            <a:pPr>
              <a:buFont typeface="Wingdings" charset="2"/>
              <a:buChar char="Ø"/>
            </a:pPr>
            <a:r>
              <a:rPr lang="en-US" dirty="0" smtClean="0">
                <a:solidFill>
                  <a:srgbClr val="63891F"/>
                </a:solidFill>
              </a:rPr>
              <a:t>Friendship</a:t>
            </a:r>
            <a:r>
              <a:rPr lang="en-US" dirty="0" smtClean="0"/>
              <a:t> </a:t>
            </a:r>
            <a:r>
              <a:rPr lang="en-US" dirty="0"/>
              <a:t>network in </a:t>
            </a:r>
            <a:r>
              <a:rPr lang="en-US" dirty="0" smtClean="0"/>
              <a:t>organization. Individual </a:t>
            </a:r>
            <a:r>
              <a:rPr lang="en-US" dirty="0"/>
              <a:t>variable is </a:t>
            </a:r>
            <a:r>
              <a:rPr lang="en-US" dirty="0">
                <a:solidFill>
                  <a:srgbClr val="E68422"/>
                </a:solidFill>
              </a:rPr>
              <a:t>attitude</a:t>
            </a:r>
            <a:r>
              <a:rPr lang="en-US" dirty="0"/>
              <a:t> toward the firm </a:t>
            </a:r>
            <a:r>
              <a:rPr lang="en-US" dirty="0" smtClean="0"/>
              <a:t>(</a:t>
            </a:r>
            <a:r>
              <a:rPr lang="en-US" dirty="0"/>
              <a:t>ordinal)</a:t>
            </a:r>
            <a:r>
              <a:rPr lang="en-US" dirty="0" smtClean="0"/>
              <a:t>. Is </a:t>
            </a:r>
            <a:r>
              <a:rPr lang="en-US" dirty="0"/>
              <a:t>attitude contagious</a:t>
            </a:r>
            <a:r>
              <a:rPr lang="en-US" dirty="0" smtClean="0"/>
              <a:t>?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If so, friends should have similar attitudes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Nodes 2 links away should be more similar than those 5 links away.</a:t>
            </a:r>
          </a:p>
          <a:p>
            <a:pPr lvl="1"/>
            <a:endParaRPr lang="en-US" dirty="0"/>
          </a:p>
          <a:p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866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Solution: 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Create a similarity measure for attitude (like absolute difference)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See if it correlates with network distance.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Autocorrelation</a:t>
            </a:r>
            <a:br>
              <a:rPr lang="en-US" dirty="0" smtClean="0"/>
            </a:br>
            <a:r>
              <a:rPr lang="en-US" sz="4000" dirty="0" smtClean="0"/>
              <a:t>(Ordinal/Continuous)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781231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Autocorrelation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103586" y="2333297"/>
            <a:ext cx="357352" cy="3258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96510" y="2333297"/>
            <a:ext cx="357352" cy="3258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521372" y="3394788"/>
            <a:ext cx="357352" cy="3258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179379" y="3037490"/>
            <a:ext cx="357352" cy="3258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475186" y="4066820"/>
            <a:ext cx="357352" cy="3258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924910" y="4503683"/>
            <a:ext cx="357352" cy="3258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1229929" y="3720608"/>
            <a:ext cx="409685" cy="80908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endCxn id="5" idx="3"/>
          </p:cNvCxnSpPr>
          <p:nvPr/>
        </p:nvCxnSpPr>
        <p:spPr>
          <a:xfrm flipV="1">
            <a:off x="1778875" y="2611402"/>
            <a:ext cx="569968" cy="83063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1877301" y="3279228"/>
            <a:ext cx="1302078" cy="27847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5"/>
            <a:endCxn id="8" idx="1"/>
          </p:cNvCxnSpPr>
          <p:nvPr/>
        </p:nvCxnSpPr>
        <p:spPr>
          <a:xfrm>
            <a:off x="1826391" y="3672893"/>
            <a:ext cx="701128" cy="44164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4" idx="6"/>
            <a:endCxn id="5" idx="2"/>
          </p:cNvCxnSpPr>
          <p:nvPr/>
        </p:nvCxnSpPr>
        <p:spPr>
          <a:xfrm>
            <a:off x="1460938" y="2496207"/>
            <a:ext cx="8355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98786" y="475776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A</a:t>
            </a:r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252045" y="332694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743200" y="427821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473669" y="2852824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2627586" y="230029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809297" y="228978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997" y="4388434"/>
            <a:ext cx="430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26474" y="3687653"/>
            <a:ext cx="430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222937" y="4297261"/>
            <a:ext cx="430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5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19012" y="3334033"/>
            <a:ext cx="430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348843" y="2650041"/>
            <a:ext cx="430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24910" y="2588279"/>
            <a:ext cx="430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35" name="Straight Connector 34"/>
          <p:cNvCxnSpPr/>
          <p:nvPr/>
        </p:nvCxnSpPr>
        <p:spPr>
          <a:xfrm flipV="1">
            <a:off x="1299232" y="4275611"/>
            <a:ext cx="1156138" cy="3693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113582"/>
              </p:ext>
            </p:extLst>
          </p:nvPr>
        </p:nvGraphicFramePr>
        <p:xfrm>
          <a:off x="3489434" y="4229730"/>
          <a:ext cx="2307024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504"/>
                <a:gridCol w="384504"/>
                <a:gridCol w="384504"/>
                <a:gridCol w="384504"/>
                <a:gridCol w="384504"/>
                <a:gridCol w="384504"/>
              </a:tblGrid>
              <a:tr h="319507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319507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319507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319507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19507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19507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3489434" y="3872319"/>
            <a:ext cx="2722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A    B    C    D    E     F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3176970" y="4263821"/>
            <a:ext cx="346841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 smtClean="0"/>
              <a:t>A</a:t>
            </a:r>
          </a:p>
          <a:p>
            <a:pPr>
              <a:spcAft>
                <a:spcPts val="600"/>
              </a:spcAft>
            </a:pPr>
            <a:r>
              <a:rPr lang="en-US" dirty="0" smtClean="0"/>
              <a:t>B</a:t>
            </a:r>
          </a:p>
          <a:p>
            <a:pPr>
              <a:spcAft>
                <a:spcPts val="600"/>
              </a:spcAft>
            </a:pPr>
            <a:r>
              <a:rPr lang="en-US" dirty="0" smtClean="0"/>
              <a:t>C</a:t>
            </a:r>
          </a:p>
          <a:p>
            <a:pPr>
              <a:spcAft>
                <a:spcPts val="600"/>
              </a:spcAft>
            </a:pPr>
            <a:r>
              <a:rPr lang="en-US" dirty="0" smtClean="0"/>
              <a:t>D</a:t>
            </a:r>
          </a:p>
          <a:p>
            <a:pPr>
              <a:spcAft>
                <a:spcPts val="600"/>
              </a:spcAft>
            </a:pPr>
            <a:r>
              <a:rPr lang="en-US" dirty="0" smtClean="0"/>
              <a:t>E</a:t>
            </a:r>
          </a:p>
          <a:p>
            <a:pPr>
              <a:spcAft>
                <a:spcPts val="600"/>
              </a:spcAft>
            </a:pPr>
            <a:r>
              <a:rPr lang="en-US" dirty="0"/>
              <a:t>F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464928"/>
              </p:ext>
            </p:extLst>
          </p:nvPr>
        </p:nvGraphicFramePr>
        <p:xfrm>
          <a:off x="6453354" y="4223791"/>
          <a:ext cx="2307024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504"/>
                <a:gridCol w="384504"/>
                <a:gridCol w="384504"/>
                <a:gridCol w="384504"/>
                <a:gridCol w="384504"/>
                <a:gridCol w="384504"/>
              </a:tblGrid>
              <a:tr h="319507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319507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19507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319507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319507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19507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6448098" y="3868160"/>
            <a:ext cx="2722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A    B    C    D    E     F</a:t>
            </a:r>
            <a:endParaRPr lang="en-US" dirty="0"/>
          </a:p>
        </p:txBody>
      </p:sp>
      <p:cxnSp>
        <p:nvCxnSpPr>
          <p:cNvPr id="45" name="Straight Arrow Connector 44"/>
          <p:cNvCxnSpPr/>
          <p:nvPr/>
        </p:nvCxnSpPr>
        <p:spPr>
          <a:xfrm>
            <a:off x="4990225" y="2957611"/>
            <a:ext cx="33720" cy="745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762927" y="2566109"/>
            <a:ext cx="2735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Difference in Attitude</a:t>
            </a:r>
            <a:endParaRPr lang="en-US"/>
          </a:p>
        </p:txBody>
      </p:sp>
      <p:cxnSp>
        <p:nvCxnSpPr>
          <p:cNvPr id="48" name="Straight Arrow Connector 47"/>
          <p:cNvCxnSpPr/>
          <p:nvPr/>
        </p:nvCxnSpPr>
        <p:spPr>
          <a:xfrm flipH="1">
            <a:off x="7383517" y="3026717"/>
            <a:ext cx="141890" cy="756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624149" y="2588279"/>
            <a:ext cx="2735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Network Distance</a:t>
            </a:r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>
            <a:off x="136634" y="4529694"/>
            <a:ext cx="8484699" cy="1873174"/>
            <a:chOff x="136634" y="4529694"/>
            <a:chExt cx="8484699" cy="1873174"/>
          </a:xfrm>
        </p:grpSpPr>
        <p:sp>
          <p:nvSpPr>
            <p:cNvPr id="10" name="Right Triangle 9"/>
            <p:cNvSpPr/>
            <p:nvPr/>
          </p:nvSpPr>
          <p:spPr>
            <a:xfrm>
              <a:off x="3489434" y="4529694"/>
              <a:ext cx="2123090" cy="1873174"/>
            </a:xfrm>
            <a:prstGeom prst="rtTriangle">
              <a:avLst/>
            </a:prstGeom>
            <a:solidFill>
              <a:schemeClr val="accent3">
                <a:lumMod val="40000"/>
                <a:lumOff val="60000"/>
                <a:alpha val="51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ight Triangle 37"/>
            <p:cNvSpPr/>
            <p:nvPr/>
          </p:nvSpPr>
          <p:spPr>
            <a:xfrm>
              <a:off x="6498243" y="4529694"/>
              <a:ext cx="2123090" cy="1873174"/>
            </a:xfrm>
            <a:prstGeom prst="rtTriangle">
              <a:avLst/>
            </a:prstGeom>
            <a:solidFill>
              <a:schemeClr val="accent3">
                <a:lumMod val="40000"/>
                <a:lumOff val="60000"/>
                <a:alpha val="51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36634" y="5476992"/>
              <a:ext cx="286166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accent3">
                      <a:lumMod val="75000"/>
                    </a:schemeClr>
                  </a:solidFill>
                </a:rPr>
                <a:t>If matrices are symmetric, only compare half of values</a:t>
              </a:r>
              <a:endParaRPr lang="en-US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2443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</a:t>
            </a:r>
            <a:r>
              <a:rPr lang="en-US" dirty="0" smtClean="0"/>
              <a:t>Autocorrelation</a:t>
            </a:r>
            <a:br>
              <a:rPr lang="en-US" dirty="0" smtClean="0"/>
            </a:br>
            <a:r>
              <a:rPr lang="en-US" sz="4000" dirty="0" smtClean="0"/>
              <a:t>(Categorical)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>
              <a:solidFill>
                <a:srgbClr val="2F5897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2F5897"/>
                </a:solidFill>
              </a:rPr>
              <a:t>Examples: </a:t>
            </a:r>
          </a:p>
          <a:p>
            <a:pPr>
              <a:buFont typeface="Wingdings" charset="2"/>
              <a:buChar char="Ø"/>
            </a:pPr>
            <a:r>
              <a:rPr lang="en-US" dirty="0" smtClean="0">
                <a:solidFill>
                  <a:schemeClr val="accent6"/>
                </a:solidFill>
              </a:rPr>
              <a:t>Are </a:t>
            </a:r>
            <a:r>
              <a:rPr lang="en-US" dirty="0">
                <a:solidFill>
                  <a:schemeClr val="accent6"/>
                </a:solidFill>
              </a:rPr>
              <a:t>you more likely to respond to someone’s post if that person is of the same gender? </a:t>
            </a:r>
            <a:endParaRPr lang="en-US" dirty="0" smtClean="0">
              <a:solidFill>
                <a:schemeClr val="accent6"/>
              </a:solidFill>
            </a:endParaRPr>
          </a:p>
          <a:p>
            <a:pPr>
              <a:buFont typeface="Wingdings" charset="2"/>
              <a:buChar char="Ø"/>
            </a:pPr>
            <a:r>
              <a:rPr lang="en-US" dirty="0" smtClean="0">
                <a:solidFill>
                  <a:schemeClr val="accent6"/>
                </a:solidFill>
              </a:rPr>
              <a:t>Do individuals in the same cohort communicate </a:t>
            </a:r>
            <a:r>
              <a:rPr lang="en-US" dirty="0" smtClean="0">
                <a:solidFill>
                  <a:schemeClr val="accent6"/>
                </a:solidFill>
              </a:rPr>
              <a:t>more/less </a:t>
            </a:r>
            <a:r>
              <a:rPr lang="en-US" dirty="0" smtClean="0">
                <a:solidFill>
                  <a:schemeClr val="accent6"/>
                </a:solidFill>
              </a:rPr>
              <a:t>frequently than individuals in different cohorts?</a:t>
            </a:r>
          </a:p>
          <a:p>
            <a:endParaRPr lang="en-US" dirty="0">
              <a:solidFill>
                <a:schemeClr val="accent6"/>
              </a:solidFill>
            </a:endParaRPr>
          </a:p>
          <a:p>
            <a:endParaRPr lang="en-US" dirty="0" smtClean="0">
              <a:solidFill>
                <a:schemeClr val="accent6"/>
              </a:solidFill>
            </a:endParaRPr>
          </a:p>
          <a:p>
            <a:endParaRPr lang="en-US" dirty="0" smtClean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726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endParaRPr lang="en-US" dirty="0" smtClean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endParaRPr lang="en-US" dirty="0" smtClean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endParaRPr lang="en-US" dirty="0" smtClean="0">
              <a:solidFill>
                <a:schemeClr val="tx2"/>
              </a:solidFill>
            </a:endParaRPr>
          </a:p>
          <a:p>
            <a:pPr>
              <a:buFont typeface="Wingdings" charset="2"/>
              <a:buChar char="Ø"/>
            </a:pPr>
            <a:r>
              <a:rPr lang="en-US" dirty="0" smtClean="0">
                <a:solidFill>
                  <a:schemeClr val="tx2"/>
                </a:solidFill>
              </a:rPr>
              <a:t>Solution</a:t>
            </a:r>
            <a:r>
              <a:rPr lang="en-US" dirty="0">
                <a:solidFill>
                  <a:schemeClr val="tx2"/>
                </a:solidFill>
              </a:rPr>
              <a:t>: </a:t>
            </a:r>
            <a:r>
              <a:rPr lang="en-US" dirty="0">
                <a:solidFill>
                  <a:schemeClr val="accent6"/>
                </a:solidFill>
              </a:rPr>
              <a:t>Statistically, are the differences in means between matrix blocks greater than you would expect by chance?  </a:t>
            </a:r>
            <a:r>
              <a:rPr lang="en-US" dirty="0" smtClean="0">
                <a:solidFill>
                  <a:schemeClr val="accent6"/>
                </a:solidFill>
              </a:rPr>
              <a:t>Shuffle the Categorical variable (QAP approach).</a:t>
            </a:r>
            <a:endParaRPr lang="en-US" dirty="0">
              <a:solidFill>
                <a:srgbClr val="2F5897"/>
              </a:solidFill>
            </a:endParaRPr>
          </a:p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</a:t>
            </a:r>
            <a:r>
              <a:rPr lang="en-US" dirty="0" smtClean="0"/>
              <a:t>Autocorrelation</a:t>
            </a:r>
            <a:br>
              <a:rPr lang="en-US" dirty="0" smtClean="0"/>
            </a:br>
            <a:r>
              <a:rPr lang="en-US" sz="4000" dirty="0" smtClean="0"/>
              <a:t>(Categorical)</a:t>
            </a:r>
            <a:endParaRPr lang="en-US" sz="40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900003"/>
              </p:ext>
            </p:extLst>
          </p:nvPr>
        </p:nvGraphicFramePr>
        <p:xfrm>
          <a:off x="3418488" y="2103120"/>
          <a:ext cx="2307024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504"/>
                <a:gridCol w="384504"/>
                <a:gridCol w="384504"/>
                <a:gridCol w="384504"/>
                <a:gridCol w="384504"/>
                <a:gridCol w="384504"/>
              </a:tblGrid>
              <a:tr h="319507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319507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319507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319507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19507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19507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3443451" y="2103120"/>
            <a:ext cx="1103586" cy="1108841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5938" y="3211961"/>
            <a:ext cx="1103586" cy="1108841"/>
          </a:xfrm>
          <a:prstGeom prst="rect">
            <a:avLst/>
          </a:prstGeom>
          <a:solidFill>
            <a:schemeClr val="accent3">
              <a:lumMod val="60000"/>
              <a:lumOff val="40000"/>
              <a:alpha val="37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241864" y="2114681"/>
            <a:ext cx="2217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Connections within Blue Cohort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08425" y="3443215"/>
            <a:ext cx="2217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Connections within Orange Cohort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6813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If we have many structural (dyadic) variables, we might want to consider something like a MLR.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Example:</a:t>
            </a:r>
          </a:p>
          <a:p>
            <a:pPr lvl="1">
              <a:buFont typeface="Wingdings" charset="2"/>
              <a:buChar char="Ø"/>
            </a:pPr>
            <a:r>
              <a:rPr lang="en-US" dirty="0" err="1" smtClean="0"/>
              <a:t>y</a:t>
            </a:r>
            <a:r>
              <a:rPr lang="en-US" baseline="-25000" dirty="0" err="1" smtClean="0"/>
              <a:t>ij</a:t>
            </a:r>
            <a:r>
              <a:rPr lang="en-US" dirty="0" smtClean="0"/>
              <a:t>= # of projects individual </a:t>
            </a:r>
            <a:r>
              <a:rPr lang="en-US" i="1" dirty="0" err="1" smtClean="0"/>
              <a:t>i</a:t>
            </a:r>
            <a:r>
              <a:rPr lang="en-US" dirty="0" smtClean="0"/>
              <a:t> asked individual </a:t>
            </a:r>
            <a:r>
              <a:rPr lang="en-US" i="1" dirty="0" smtClean="0"/>
              <a:t>j</a:t>
            </a:r>
            <a:r>
              <a:rPr lang="en-US" dirty="0" smtClean="0"/>
              <a:t> for help</a:t>
            </a:r>
          </a:p>
          <a:p>
            <a:pPr lvl="1">
              <a:buFont typeface="Wingdings" charset="2"/>
              <a:buChar char="Ø"/>
            </a:pPr>
            <a:r>
              <a:rPr lang="en-US" dirty="0" smtClean="0"/>
              <a:t>x</a:t>
            </a:r>
            <a:r>
              <a:rPr lang="en-US" baseline="-25000" dirty="0" smtClean="0"/>
              <a:t>ij</a:t>
            </a:r>
            <a:r>
              <a:rPr lang="en-US" baseline="30000" dirty="0" smtClean="0"/>
              <a:t>1</a:t>
            </a:r>
            <a:r>
              <a:rPr lang="en-US" dirty="0" smtClean="0"/>
              <a:t>= knowledge: does </a:t>
            </a:r>
            <a:r>
              <a:rPr lang="en-US" dirty="0" err="1" smtClean="0"/>
              <a:t>ind.</a:t>
            </a:r>
            <a:r>
              <a:rPr lang="en-US" dirty="0" smtClean="0"/>
              <a:t> </a:t>
            </a:r>
            <a:r>
              <a:rPr lang="en-US" i="1" dirty="0" err="1" smtClean="0"/>
              <a:t>i</a:t>
            </a:r>
            <a:r>
              <a:rPr lang="en-US" dirty="0" smtClean="0"/>
              <a:t> know talents of </a:t>
            </a:r>
            <a:r>
              <a:rPr lang="en-US" dirty="0" err="1" smtClean="0"/>
              <a:t>ind.</a:t>
            </a:r>
            <a:r>
              <a:rPr lang="en-US" dirty="0" smtClean="0"/>
              <a:t> </a:t>
            </a:r>
            <a:r>
              <a:rPr lang="en-US" i="1" dirty="0" smtClean="0"/>
              <a:t>j</a:t>
            </a:r>
            <a:r>
              <a:rPr lang="en-US" dirty="0" smtClean="0"/>
              <a:t>?</a:t>
            </a:r>
          </a:p>
          <a:p>
            <a:pPr lvl="1">
              <a:buFont typeface="Wingdings" charset="2"/>
              <a:buChar char="Ø"/>
            </a:pPr>
            <a:r>
              <a:rPr lang="en-US" dirty="0" smtClean="0"/>
              <a:t>x</a:t>
            </a:r>
            <a:r>
              <a:rPr lang="en-US" baseline="-25000" dirty="0" smtClean="0"/>
              <a:t>ij</a:t>
            </a:r>
            <a:r>
              <a:rPr lang="en-US" baseline="30000" dirty="0" smtClean="0"/>
              <a:t>2</a:t>
            </a:r>
            <a:r>
              <a:rPr lang="en-US" dirty="0" smtClean="0"/>
              <a:t>= trust : </a:t>
            </a:r>
            <a:r>
              <a:rPr lang="en-US" dirty="0"/>
              <a:t>does </a:t>
            </a:r>
            <a:r>
              <a:rPr lang="en-US" dirty="0" err="1"/>
              <a:t>ind.</a:t>
            </a:r>
            <a:r>
              <a:rPr lang="en-US" dirty="0"/>
              <a:t> </a:t>
            </a:r>
            <a:r>
              <a:rPr lang="en-US" i="1" dirty="0" err="1"/>
              <a:t>i</a:t>
            </a:r>
            <a:r>
              <a:rPr lang="en-US" dirty="0"/>
              <a:t> </a:t>
            </a:r>
            <a:r>
              <a:rPr lang="en-US" dirty="0" smtClean="0"/>
              <a:t>trust </a:t>
            </a:r>
            <a:r>
              <a:rPr lang="en-US" dirty="0" err="1" smtClean="0"/>
              <a:t>ind</a:t>
            </a:r>
            <a:r>
              <a:rPr lang="en-US" dirty="0" err="1"/>
              <a:t>.</a:t>
            </a:r>
            <a:r>
              <a:rPr lang="en-US" dirty="0"/>
              <a:t> </a:t>
            </a:r>
            <a:r>
              <a:rPr lang="en-US" i="1" dirty="0"/>
              <a:t>j</a:t>
            </a:r>
            <a:r>
              <a:rPr lang="en-US" dirty="0" smtClean="0"/>
              <a:t>?</a:t>
            </a:r>
          </a:p>
          <a:p>
            <a:pPr lvl="1">
              <a:buFont typeface="Wingdings" charset="2"/>
              <a:buChar char="Ø"/>
            </a:pPr>
            <a:r>
              <a:rPr lang="en-US" dirty="0" smtClean="0"/>
              <a:t>x</a:t>
            </a:r>
            <a:r>
              <a:rPr lang="en-US" baseline="-25000" dirty="0" smtClean="0"/>
              <a:t>ij</a:t>
            </a:r>
            <a:r>
              <a:rPr lang="en-US" baseline="30000" dirty="0" smtClean="0"/>
              <a:t>3</a:t>
            </a:r>
            <a:r>
              <a:rPr lang="en-US" dirty="0" smtClean="0"/>
              <a:t>= access: can </a:t>
            </a:r>
            <a:r>
              <a:rPr lang="en-US" dirty="0" err="1" smtClean="0"/>
              <a:t>ind</a:t>
            </a:r>
            <a:r>
              <a:rPr lang="en-US" dirty="0" err="1"/>
              <a:t>.</a:t>
            </a:r>
            <a:r>
              <a:rPr lang="en-US" dirty="0"/>
              <a:t> </a:t>
            </a:r>
            <a:r>
              <a:rPr lang="en-US" i="1" dirty="0" err="1"/>
              <a:t>i</a:t>
            </a:r>
            <a:r>
              <a:rPr lang="en-US" dirty="0"/>
              <a:t> </a:t>
            </a:r>
            <a:r>
              <a:rPr lang="en-US" dirty="0" smtClean="0"/>
              <a:t>access </a:t>
            </a:r>
            <a:r>
              <a:rPr lang="en-US" dirty="0" err="1" smtClean="0"/>
              <a:t>ind</a:t>
            </a:r>
            <a:r>
              <a:rPr lang="en-US" dirty="0" err="1"/>
              <a:t>.</a:t>
            </a:r>
            <a:r>
              <a:rPr lang="en-US" dirty="0"/>
              <a:t> </a:t>
            </a:r>
            <a:r>
              <a:rPr lang="en-US" i="1" dirty="0"/>
              <a:t>j</a:t>
            </a:r>
            <a:r>
              <a:rPr lang="en-US" dirty="0" smtClean="0"/>
              <a:t>?</a:t>
            </a:r>
          </a:p>
          <a:p>
            <a:pPr lvl="1">
              <a:buFont typeface="Wingdings" charset="2"/>
              <a:buChar char="Ø"/>
            </a:pPr>
            <a:r>
              <a:rPr lang="en-US" dirty="0" smtClean="0"/>
              <a:t>x</a:t>
            </a:r>
            <a:r>
              <a:rPr lang="en-US" baseline="-25000" dirty="0" smtClean="0"/>
              <a:t>ij</a:t>
            </a:r>
            <a:r>
              <a:rPr lang="en-US" baseline="30000" dirty="0" smtClean="0"/>
              <a:t>4</a:t>
            </a:r>
            <a:r>
              <a:rPr lang="en-US" dirty="0" smtClean="0"/>
              <a:t>= friendship: are </a:t>
            </a:r>
            <a:r>
              <a:rPr lang="en-US" dirty="0" err="1"/>
              <a:t>ind.</a:t>
            </a:r>
            <a:r>
              <a:rPr lang="en-US" dirty="0"/>
              <a:t> </a:t>
            </a:r>
            <a:r>
              <a:rPr lang="en-US" i="1" dirty="0" err="1"/>
              <a:t>i</a:t>
            </a:r>
            <a:r>
              <a:rPr lang="en-US" dirty="0"/>
              <a:t> </a:t>
            </a:r>
            <a:r>
              <a:rPr lang="en-US" dirty="0" smtClean="0"/>
              <a:t>and </a:t>
            </a:r>
            <a:r>
              <a:rPr lang="en-US" dirty="0" err="1" smtClean="0"/>
              <a:t>ind</a:t>
            </a:r>
            <a:r>
              <a:rPr lang="en-US" dirty="0" err="1"/>
              <a:t>.</a:t>
            </a:r>
            <a:r>
              <a:rPr lang="en-US" dirty="0"/>
              <a:t> </a:t>
            </a:r>
            <a:r>
              <a:rPr lang="en-US" i="1" dirty="0" smtClean="0"/>
              <a:t>j </a:t>
            </a:r>
            <a:r>
              <a:rPr lang="en-US" dirty="0" smtClean="0"/>
              <a:t>friendly?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Problem:</a:t>
            </a:r>
          </a:p>
          <a:p>
            <a:pPr lvl="1">
              <a:buFont typeface="Wingdings" charset="2"/>
              <a:buChar char="Ø"/>
            </a:pPr>
            <a:r>
              <a:rPr lang="en-US" dirty="0" smtClean="0"/>
              <a:t>Still no p-values (no independence). Must still use permutations/simulations to discover p-values for each relationship…gets time consuming.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993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Fortune Interactive Consulting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71 Consultants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Most projects are brought in by the consultants themselves (some by sales/support staff)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Each project has 1 or 2 leads, managing a team of 3 or 6 individuals respectively.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Each lead is responsible for creating a team of 3 other consultants to handle the project.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Encouraged to work with many different consultants, not always draft same team</a:t>
            </a:r>
          </a:p>
          <a:p>
            <a:pPr lvl="1">
              <a:buFont typeface="Wingdings" charset="2"/>
              <a:buChar char="Ø"/>
            </a:pPr>
            <a:r>
              <a:rPr lang="en-US" dirty="0" smtClean="0"/>
              <a:t>(They had been worried that newly hired consultants were not being utilized.)</a:t>
            </a:r>
          </a:p>
          <a:p>
            <a:pPr lvl="1">
              <a:buFont typeface="Wingdings" charset="2"/>
              <a:buChar char="Ø"/>
            </a:pPr>
            <a:r>
              <a:rPr lang="en-US" dirty="0" smtClean="0"/>
              <a:t>Some accusations of preferential treatment based on mutual interests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409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Fortune Interactive Consulting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charset="2"/>
              <a:buChar char="Ø"/>
            </a:pPr>
            <a:r>
              <a:rPr lang="en-US" dirty="0" smtClean="0"/>
              <a:t>Projects can range in duration from 1 month to 24 months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Consultants have at most 4 projects ongoing at any given time.</a:t>
            </a:r>
          </a:p>
          <a:p>
            <a:pPr>
              <a:buFont typeface="Wingdings" charset="2"/>
              <a:buChar char="Ø"/>
            </a:pPr>
            <a:r>
              <a:rPr lang="en-US" dirty="0"/>
              <a:t>Data</a:t>
            </a:r>
          </a:p>
          <a:p>
            <a:pPr lvl="1">
              <a:buFont typeface="Wingdings" charset="2"/>
              <a:buChar char="Ø"/>
            </a:pPr>
            <a:r>
              <a:rPr lang="en-US" dirty="0"/>
              <a:t>Edge variable: Reported </a:t>
            </a:r>
            <a:r>
              <a:rPr lang="en-US" b="1" dirty="0"/>
              <a:t>trust in ability </a:t>
            </a:r>
            <a:r>
              <a:rPr lang="en-US" dirty="0"/>
              <a:t>between consultants</a:t>
            </a:r>
          </a:p>
          <a:p>
            <a:pPr lvl="1">
              <a:buFont typeface="Wingdings" charset="2"/>
              <a:buChar char="Ø"/>
            </a:pPr>
            <a:r>
              <a:rPr lang="en-US" dirty="0"/>
              <a:t>Node variables:</a:t>
            </a:r>
          </a:p>
          <a:p>
            <a:pPr lvl="2">
              <a:buFont typeface="Wingdings" charset="2"/>
              <a:buChar char="Ø"/>
            </a:pPr>
            <a:r>
              <a:rPr lang="en-US" b="1" dirty="0"/>
              <a:t>Gender</a:t>
            </a:r>
          </a:p>
          <a:p>
            <a:pPr lvl="2">
              <a:buFont typeface="Wingdings" charset="2"/>
              <a:buChar char="Ø"/>
            </a:pPr>
            <a:r>
              <a:rPr lang="en-US" b="1" dirty="0"/>
              <a:t>Company Tenure</a:t>
            </a:r>
          </a:p>
          <a:p>
            <a:pPr lvl="2">
              <a:buFont typeface="Wingdings" charset="2"/>
              <a:buChar char="Ø"/>
            </a:pPr>
            <a:r>
              <a:rPr lang="en-US" b="1" dirty="0"/>
              <a:t>College Football Team Preference</a:t>
            </a:r>
          </a:p>
          <a:p>
            <a:pPr lvl="2">
              <a:buFont typeface="Wingdings" charset="2"/>
              <a:buChar char="Ø"/>
            </a:pPr>
            <a:r>
              <a:rPr lang="en-US" b="1" dirty="0"/>
              <a:t>College Basketball Team Preference</a:t>
            </a:r>
          </a:p>
          <a:p>
            <a:pPr lvl="2">
              <a:buFont typeface="Wingdings" charset="2"/>
              <a:buChar char="Ø"/>
            </a:pPr>
            <a:r>
              <a:rPr lang="en-US" b="1" dirty="0"/>
              <a:t>Number of Past Project Leads</a:t>
            </a:r>
          </a:p>
          <a:p>
            <a:pPr>
              <a:buFont typeface="Wingdings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991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Fortune Interactive Consulting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charset="2"/>
              <a:buChar char="Ø"/>
            </a:pPr>
            <a:endParaRPr lang="en-US" dirty="0"/>
          </a:p>
          <a:p>
            <a:pPr>
              <a:buFont typeface="Wingdings" charset="2"/>
              <a:buChar char="Ø"/>
            </a:pPr>
            <a:r>
              <a:rPr lang="en-US" dirty="0"/>
              <a:t>Questions: </a:t>
            </a:r>
            <a:endParaRPr lang="en-US" dirty="0" smtClean="0"/>
          </a:p>
          <a:p>
            <a:pPr>
              <a:buFont typeface="Wingdings" charset="2"/>
              <a:buChar char="Ø"/>
            </a:pPr>
            <a:endParaRPr lang="en-US" dirty="0" smtClean="0"/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Is there any relationship between whether consultants report trust in one another and whether they have the same college football preference?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Is there any relationship between whether consultants will invite one another to join a project and whether they have the same college football preference?</a:t>
            </a:r>
          </a:p>
          <a:p>
            <a:pPr lvl="1">
              <a:buFont typeface="Wingdings" charset="2"/>
              <a:buChar char="Ø"/>
            </a:pPr>
            <a:endParaRPr lang="en-US" sz="2400" dirty="0"/>
          </a:p>
          <a:p>
            <a:pPr lvl="1">
              <a:buFont typeface="Wingdings" charset="2"/>
              <a:buChar char="Ø"/>
            </a:pPr>
            <a:endParaRPr lang="en-US" sz="2400" dirty="0"/>
          </a:p>
          <a:p>
            <a:pPr lvl="1">
              <a:buFont typeface="Wingdings" charset="2"/>
              <a:buChar char="Ø"/>
            </a:pPr>
            <a:r>
              <a:rPr lang="en-US" sz="2400" dirty="0"/>
              <a:t>Can we determine factors that contribute to this network structure? Are mutual interests in sports driving professional relationships?</a:t>
            </a:r>
          </a:p>
        </p:txBody>
      </p:sp>
    </p:spTree>
    <p:extLst>
      <p:ext uri="{BB962C8B-B14F-4D97-AF65-F5344CB8AC3E}">
        <p14:creationId xmlns:p14="http://schemas.microsoft.com/office/powerpoint/2010/main" val="1862760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Executive.thmx</Template>
  <TotalTime>2005</TotalTime>
  <Words>1222</Words>
  <Application>Microsoft Macintosh PowerPoint</Application>
  <PresentationFormat>On-screen Show (4:3)</PresentationFormat>
  <Paragraphs>283</Paragraphs>
  <Slides>23</Slides>
  <Notes>2</Notes>
  <HiddenSlides>4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Calibri</vt:lpstr>
      <vt:lpstr>Century Gothic</vt:lpstr>
      <vt:lpstr>Courier New</vt:lpstr>
      <vt:lpstr>Palatino Linotype</vt:lpstr>
      <vt:lpstr>Wingdings</vt:lpstr>
      <vt:lpstr>Arial</vt:lpstr>
      <vt:lpstr>Executive</vt:lpstr>
      <vt:lpstr>Network Analysis</vt:lpstr>
      <vt:lpstr>Hypothesis Testing for Networks</vt:lpstr>
      <vt:lpstr>Individual Level Hypotheses</vt:lpstr>
      <vt:lpstr>Problems</vt:lpstr>
      <vt:lpstr>Problems</vt:lpstr>
      <vt:lpstr>Solution</vt:lpstr>
      <vt:lpstr>Example</vt:lpstr>
      <vt:lpstr>Example</vt:lpstr>
      <vt:lpstr>Example</vt:lpstr>
      <vt:lpstr>Dyad Level Hypothesis</vt:lpstr>
      <vt:lpstr>Problems</vt:lpstr>
      <vt:lpstr>Solution</vt:lpstr>
      <vt:lpstr>Network Level Hypothesis</vt:lpstr>
      <vt:lpstr>No Problem!</vt:lpstr>
      <vt:lpstr>Network Autocorrelation (Ordinal/Continuous)</vt:lpstr>
      <vt:lpstr>Network Autocorrelation (Ordinal/Continuous)</vt:lpstr>
      <vt:lpstr>Example: Autocorrelation</vt:lpstr>
      <vt:lpstr>Network Autocorrelation (Categorical)</vt:lpstr>
      <vt:lpstr>Network Autocorrelation (Categorical)</vt:lpstr>
      <vt:lpstr>Network Regression</vt:lpstr>
      <vt:lpstr>Fortune Interactive Consulting</vt:lpstr>
      <vt:lpstr>Fortune Interactive Consulting</vt:lpstr>
      <vt:lpstr>Fortune Interactive Consulting</vt:lpstr>
    </vt:vector>
  </TitlesOfParts>
  <Company>Institute for Advanced Analytics</Company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Analysis</dc:title>
  <dc:creator>Shaina Race</dc:creator>
  <cp:lastModifiedBy>Shaina L Race</cp:lastModifiedBy>
  <cp:revision>29</cp:revision>
  <dcterms:created xsi:type="dcterms:W3CDTF">2016-03-10T19:59:53Z</dcterms:created>
  <dcterms:modified xsi:type="dcterms:W3CDTF">2018-03-30T14:08:14Z</dcterms:modified>
</cp:coreProperties>
</file>