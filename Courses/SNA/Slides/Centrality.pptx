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63" r:id="rId2"/>
    <p:sldId id="256" r:id="rId3"/>
    <p:sldId id="258" r:id="rId4"/>
    <p:sldId id="259" r:id="rId5"/>
    <p:sldId id="290" r:id="rId6"/>
    <p:sldId id="291" r:id="rId7"/>
    <p:sldId id="260" r:id="rId8"/>
    <p:sldId id="266" r:id="rId9"/>
    <p:sldId id="267" r:id="rId10"/>
    <p:sldId id="261" r:id="rId11"/>
    <p:sldId id="270" r:id="rId12"/>
    <p:sldId id="264" r:id="rId13"/>
    <p:sldId id="262" r:id="rId14"/>
    <p:sldId id="268" r:id="rId15"/>
    <p:sldId id="289" r:id="rId16"/>
    <p:sldId id="269" r:id="rId17"/>
    <p:sldId id="265" r:id="rId18"/>
    <p:sldId id="292" r:id="rId19"/>
    <p:sldId id="28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79652"/>
  </p:normalViewPr>
  <p:slideViewPr>
    <p:cSldViewPr snapToGrid="0" snapToObjects="1">
      <p:cViewPr>
        <p:scale>
          <a:sx n="100" d="100"/>
          <a:sy n="100" d="100"/>
        </p:scale>
        <p:origin x="1960" y="-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002602-2E09-084D-9272-168C3090BC3A}" type="datetimeFigureOut">
              <a:rPr lang="en-US" smtClean="0"/>
              <a:t>3/10/18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5D3CF-D98F-3440-9AC5-E9E79AB7D9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75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Max degree</a:t>
            </a:r>
            <a:r>
              <a:rPr lang="en-US" baseline="0" dirty="0" smtClean="0"/>
              <a:t> is n-1 : one node connected to all other nodes (star). In that case, all other nodes have degree 1. So the max-c(</a:t>
            </a:r>
            <a:r>
              <a:rPr lang="en-US" baseline="0" dirty="0" err="1" smtClean="0"/>
              <a:t>i</a:t>
            </a:r>
            <a:r>
              <a:rPr lang="en-US" baseline="0" dirty="0" smtClean="0"/>
              <a:t>) = (n-1)-1 = n-2 for all nodes, of which there are (n-1) so add up (n-2) (n-1) times gives you the denominator </a:t>
            </a:r>
            <a:r>
              <a:rPr lang="en-US" baseline="0" dirty="0" smtClean="0">
                <a:sym typeface="Wingdings"/>
              </a:rPr>
              <a:t> centralization of 1.</a:t>
            </a:r>
          </a:p>
          <a:p>
            <a:endParaRPr lang="en-US" baseline="0" dirty="0" smtClean="0">
              <a:sym typeface="Wingdings"/>
            </a:endParaRPr>
          </a:p>
          <a:p>
            <a:r>
              <a:rPr lang="en-US" baseline="0" dirty="0" smtClean="0">
                <a:sym typeface="Wingdings"/>
              </a:rPr>
              <a:t>If all the nodes have max  centralization is 0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5D3CF-D98F-3440-9AC5-E9E79AB7D91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8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CB0A2DC7-7395-0B43-8E89-FE6395855A4B}" type="datetimeFigureOut">
              <a:rPr lang="en-US" smtClean="0"/>
              <a:t>3/10/18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DB106FD4-5AB0-124C-871B-1B3E3B73A54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4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4" Type="http://schemas.openxmlformats.org/officeDocument/2006/relationships/image" Target="../media/image5.emf"/><Relationship Id="rId5" Type="http://schemas.openxmlformats.org/officeDocument/2006/relationships/image" Target="../media/image6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5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4" Type="http://schemas.openxmlformats.org/officeDocument/2006/relationships/image" Target="../media/image7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8.e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79247"/>
            <a:ext cx="7772400" cy="3429644"/>
          </a:xfrm>
        </p:spPr>
        <p:txBody>
          <a:bodyPr/>
          <a:lstStyle/>
          <a:p>
            <a:r>
              <a:rPr lang="en-US" dirty="0"/>
              <a:t>Network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Shaina Race</a:t>
            </a:r>
          </a:p>
          <a:p>
            <a:r>
              <a:rPr lang="en-US" dirty="0"/>
              <a:t>Institute for Advanced Analytics</a:t>
            </a:r>
          </a:p>
          <a:p>
            <a:endParaRPr lang="en-US" dirty="0"/>
          </a:p>
          <a:p>
            <a:r>
              <a:rPr lang="en-US" dirty="0"/>
              <a:t>Spring </a:t>
            </a:r>
            <a:r>
              <a:rPr lang="en-US" dirty="0" smtClean="0"/>
              <a:t>2017</a:t>
            </a: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1440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Centrality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Measuring Influence in a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85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b="1" dirty="0" smtClean="0"/>
              <a:t>Centrality</a:t>
            </a:r>
            <a:r>
              <a:rPr lang="en-US" dirty="0" smtClean="0"/>
              <a:t> is a measure of how importance a vertex is to a graph.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There are many ways to define importance.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Common measures of centrality: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Degree Centrality</a:t>
            </a:r>
          </a:p>
          <a:p>
            <a:pPr lvl="1">
              <a:buFont typeface="Wingdings" charset="2"/>
              <a:buChar char="Ø"/>
            </a:pPr>
            <a:r>
              <a:rPr lang="en-US" sz="2000" dirty="0" err="1" smtClean="0"/>
              <a:t>Betweenness</a:t>
            </a:r>
            <a:r>
              <a:rPr lang="en-US" sz="2000" dirty="0" smtClean="0"/>
              <a:t> Centrality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Closeness Centrality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Eigenvector Centrality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Usually normalized in [0,1] for comparison across networks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3373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Degree Centrality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Node with highest degree is most important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Measures the exposure of vertex to others in network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Degree centrality for vertex </a:t>
            </a:r>
            <a:r>
              <a:rPr lang="en-US" i="1" dirty="0" smtClean="0"/>
              <a:t>v</a:t>
            </a:r>
            <a:r>
              <a:rPr lang="en-US" dirty="0" smtClean="0"/>
              <a:t> is  </a:t>
            </a:r>
            <a:r>
              <a:rPr lang="en-US" b="1" dirty="0" smtClean="0"/>
              <a:t>C</a:t>
            </a:r>
            <a:r>
              <a:rPr lang="en-US" b="1" baseline="-25000" dirty="0" smtClean="0"/>
              <a:t>D</a:t>
            </a:r>
            <a:r>
              <a:rPr lang="en-US" b="1" dirty="0" smtClean="0"/>
              <a:t>(v)</a:t>
            </a:r>
            <a:r>
              <a:rPr lang="en-US" b="1" baseline="-25000" dirty="0" smtClean="0"/>
              <a:t> </a:t>
            </a:r>
            <a:r>
              <a:rPr lang="en-US" b="1" dirty="0" smtClean="0"/>
              <a:t>= d</a:t>
            </a:r>
            <a:r>
              <a:rPr lang="en-US" b="1" baseline="-25000" dirty="0" smtClean="0"/>
              <a:t>v </a:t>
            </a:r>
            <a:r>
              <a:rPr lang="en-US" b="1" dirty="0" smtClean="0"/>
              <a:t>/(n-1)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d</a:t>
            </a:r>
            <a:r>
              <a:rPr lang="en-US" sz="2000" baseline="-25000" dirty="0" smtClean="0"/>
              <a:t>v</a:t>
            </a:r>
            <a:r>
              <a:rPr lang="en-US" sz="2000" dirty="0" smtClean="0"/>
              <a:t>=</a:t>
            </a:r>
            <a:r>
              <a:rPr lang="en-US" sz="2000" dirty="0"/>
              <a:t>degree of </a:t>
            </a:r>
            <a:r>
              <a:rPr lang="en-US" sz="2000" dirty="0" smtClean="0"/>
              <a:t>vertex v</a:t>
            </a:r>
            <a:r>
              <a:rPr lang="en-US" sz="2000" dirty="0"/>
              <a:t>	</a:t>
            </a:r>
          </a:p>
          <a:p>
            <a:pPr lvl="1">
              <a:buFont typeface="Wingdings" charset="2"/>
              <a:buChar char="Ø"/>
            </a:pPr>
            <a:r>
              <a:rPr lang="en-US" sz="2000" dirty="0"/>
              <a:t>n=number of </a:t>
            </a:r>
            <a:r>
              <a:rPr lang="en-US" sz="2000" dirty="0" smtClean="0"/>
              <a:t>vertices in network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Max value is 1 (if vertex is connected to all other vertices).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Local measure: can be deceiving (see example) </a:t>
            </a:r>
            <a:endParaRPr lang="en-US" dirty="0"/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83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Deceptive Degree Centrality</a:t>
            </a:r>
            <a:endParaRPr lang="en-US" sz="48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01"/>
            <a:ext cx="9154866" cy="48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01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Betweenness</a:t>
            </a:r>
            <a:r>
              <a:rPr lang="en-US" dirty="0"/>
              <a:t> Centrality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44" y="2484803"/>
            <a:ext cx="8716312" cy="4157297"/>
          </a:xfrm>
        </p:spPr>
      </p:pic>
      <p:grpSp>
        <p:nvGrpSpPr>
          <p:cNvPr id="3" name="Group 2"/>
          <p:cNvGrpSpPr/>
          <p:nvPr/>
        </p:nvGrpSpPr>
        <p:grpSpPr>
          <a:xfrm>
            <a:off x="3314443" y="1530319"/>
            <a:ext cx="2458074" cy="2538123"/>
            <a:chOff x="3314443" y="1530319"/>
            <a:chExt cx="2458074" cy="2538123"/>
          </a:xfrm>
        </p:grpSpPr>
        <p:sp>
          <p:nvSpPr>
            <p:cNvPr id="8" name="Oval Callout 7"/>
            <p:cNvSpPr/>
            <p:nvPr/>
          </p:nvSpPr>
          <p:spPr>
            <a:xfrm>
              <a:off x="3314700" y="1816100"/>
              <a:ext cx="2324100" cy="2247900"/>
            </a:xfrm>
            <a:prstGeom prst="wedgeEllipseCallo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Callout 8"/>
            <p:cNvSpPr/>
            <p:nvPr/>
          </p:nvSpPr>
          <p:spPr>
            <a:xfrm rot="18846962">
              <a:off x="3288080" y="1731953"/>
              <a:ext cx="2458074" cy="2147815"/>
            </a:xfrm>
            <a:prstGeom prst="wedgeEllipseCallo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Callout 9"/>
            <p:cNvSpPr/>
            <p:nvPr/>
          </p:nvSpPr>
          <p:spPr>
            <a:xfrm rot="2245576">
              <a:off x="3314443" y="1530319"/>
              <a:ext cx="2458074" cy="2538123"/>
            </a:xfrm>
            <a:prstGeom prst="wedgeEllipseCallou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30630" y="2268903"/>
              <a:ext cx="191927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chemeClr val="bg1"/>
                  </a:solidFill>
                </a:rPr>
                <a:t>you’ll have to go through us!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600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Betweenness</a:t>
            </a:r>
            <a:r>
              <a:rPr lang="en-US" dirty="0" smtClean="0"/>
              <a:t> Centrality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 lnSpcReduction="10000"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Sum of proportions of shortest paths between 2 nodes that pass through the node of interest.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Measures control of a node on communication between other nodes.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endParaRPr lang="en-US" dirty="0"/>
          </a:p>
          <a:p>
            <a:pPr lvl="1">
              <a:buFont typeface="Wingdings" charset="2"/>
              <a:buChar char="Ø"/>
            </a:pPr>
            <a:endParaRPr lang="en-US" dirty="0" smtClean="0"/>
          </a:p>
          <a:p>
            <a:pPr lvl="1">
              <a:buFont typeface="Wingdings" charset="2"/>
              <a:buChar char="Ø"/>
            </a:pPr>
            <a:r>
              <a:rPr lang="en-US" sz="1800" dirty="0" err="1" smtClean="0"/>
              <a:t>δ</a:t>
            </a:r>
            <a:r>
              <a:rPr lang="en-US" sz="1800" baseline="-25000" dirty="0" err="1" smtClean="0"/>
              <a:t>ij</a:t>
            </a:r>
            <a:r>
              <a:rPr lang="en-US" sz="1800" dirty="0" smtClean="0"/>
              <a:t>=number of shortest paths between nodes </a:t>
            </a:r>
            <a:r>
              <a:rPr lang="en-US" sz="1800" dirty="0" err="1" smtClean="0"/>
              <a:t>i</a:t>
            </a:r>
            <a:r>
              <a:rPr lang="en-US" sz="1800" dirty="0" smtClean="0"/>
              <a:t> and j</a:t>
            </a:r>
          </a:p>
          <a:p>
            <a:pPr lvl="1">
              <a:buFont typeface="Wingdings" charset="2"/>
              <a:buChar char="Ø"/>
            </a:pPr>
            <a:r>
              <a:rPr lang="en-US" sz="1800" dirty="0" err="1" smtClean="0"/>
              <a:t>δ</a:t>
            </a:r>
            <a:r>
              <a:rPr lang="en-US" sz="1800" baseline="-25000" dirty="0" err="1" smtClean="0"/>
              <a:t>ij</a:t>
            </a:r>
            <a:r>
              <a:rPr lang="en-US" sz="1800" dirty="0" smtClean="0"/>
              <a:t>(v)=number of shortest paths between </a:t>
            </a:r>
            <a:r>
              <a:rPr lang="en-US" sz="1800" dirty="0" err="1" smtClean="0"/>
              <a:t>i</a:t>
            </a:r>
            <a:r>
              <a:rPr lang="en-US" sz="1800" dirty="0" smtClean="0"/>
              <a:t> and j that go through node u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Can also consider </a:t>
            </a:r>
            <a:r>
              <a:rPr lang="en-US" i="1" dirty="0" smtClean="0"/>
              <a:t>edge </a:t>
            </a:r>
            <a:r>
              <a:rPr lang="en-US" i="1" dirty="0" err="1" smtClean="0"/>
              <a:t>betweenness</a:t>
            </a:r>
            <a:r>
              <a:rPr lang="en-US" i="1" dirty="0" smtClean="0"/>
              <a:t> centrality </a:t>
            </a:r>
            <a:r>
              <a:rPr lang="en-US" dirty="0" smtClean="0"/>
              <a:t>using paths that include a given edge.</a:t>
            </a:r>
            <a:endParaRPr lang="en-US" i="1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1467849"/>
              </p:ext>
            </p:extLst>
          </p:nvPr>
        </p:nvGraphicFramePr>
        <p:xfrm>
          <a:off x="3106738" y="3354388"/>
          <a:ext cx="2530475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Equation" r:id="rId3" imgW="977900" imgH="393700" progId="Equation.3">
                  <p:embed/>
                </p:oleObj>
              </mc:Choice>
              <mc:Fallback>
                <p:oleObj name="Equation" r:id="rId3" imgW="9779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6738" y="3354388"/>
                        <a:ext cx="2530475" cy="1017587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375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Betweenness</a:t>
            </a:r>
            <a:r>
              <a:rPr lang="en-US" dirty="0"/>
              <a:t> Centrality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510141"/>
              </p:ext>
            </p:extLst>
          </p:nvPr>
        </p:nvGraphicFramePr>
        <p:xfrm>
          <a:off x="981075" y="2070100"/>
          <a:ext cx="291941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3" imgW="977900" imgH="393700" progId="Equation.3">
                  <p:embed/>
                </p:oleObj>
              </mc:Choice>
              <mc:Fallback>
                <p:oleObj name="Equation" r:id="rId3" imgW="9779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1075" y="2070100"/>
                        <a:ext cx="2919413" cy="117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betweenness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587" y="1828800"/>
            <a:ext cx="6907213" cy="35703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12900" y="5426292"/>
            <a:ext cx="5930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Note</a:t>
            </a:r>
            <a:r>
              <a:rPr lang="en-US" dirty="0" smtClean="0"/>
              <a:t>: Be sure to use </a:t>
            </a:r>
            <a:r>
              <a:rPr lang="en-US" dirty="0" err="1" smtClean="0"/>
              <a:t>Brandes</a:t>
            </a:r>
            <a:r>
              <a:rPr lang="en-US" dirty="0" smtClean="0"/>
              <a:t>’ Algorithm to compute </a:t>
            </a:r>
            <a:r>
              <a:rPr lang="en-US" dirty="0" err="1" smtClean="0"/>
              <a:t>betweenness</a:t>
            </a:r>
            <a:r>
              <a:rPr lang="en-US" dirty="0" smtClean="0"/>
              <a:t>! Developed in 2001, O(</a:t>
            </a:r>
            <a:r>
              <a:rPr lang="en-US" dirty="0" err="1" smtClean="0"/>
              <a:t>mn</a:t>
            </a:r>
            <a:r>
              <a:rPr lang="en-US" dirty="0" smtClean="0"/>
              <a:t>) for </a:t>
            </a:r>
            <a:r>
              <a:rPr lang="en-US" dirty="0" err="1" smtClean="0"/>
              <a:t>unweighted</a:t>
            </a:r>
            <a:r>
              <a:rPr lang="en-US" dirty="0" smtClean="0"/>
              <a:t> graphs and O(n</a:t>
            </a:r>
            <a:r>
              <a:rPr lang="en-US" baseline="30000" dirty="0" smtClean="0"/>
              <a:t>2</a:t>
            </a:r>
            <a:r>
              <a:rPr lang="en-US" dirty="0" smtClean="0"/>
              <a:t>logn+mn) for </a:t>
            </a:r>
            <a:r>
              <a:rPr lang="en-US" dirty="0" err="1" smtClean="0"/>
              <a:t>unweighted</a:t>
            </a:r>
            <a:r>
              <a:rPr lang="en-US" dirty="0" smtClean="0"/>
              <a:t> graphs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57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Betweenness</a:t>
            </a:r>
            <a:r>
              <a:rPr lang="en-US" dirty="0"/>
              <a:t> Centrality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Normalize each value by the maximum possible centrality score = the number of pairs of nodes excluding the given node. </a:t>
            </a:r>
          </a:p>
          <a:p>
            <a:pPr lvl="1">
              <a:buFont typeface="Wingdings" charset="2"/>
              <a:buChar char="Ø"/>
            </a:pPr>
            <a:r>
              <a:rPr lang="en-US" sz="2000" dirty="0"/>
              <a:t>For directed graph, normalize by (n-1)(n-2) </a:t>
            </a:r>
            <a:endParaRPr lang="en-US" sz="2000" dirty="0" smtClean="0"/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For undirected graph, normalize by (n-1)(n-2)/2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Normalization allows for comparison across networks.</a:t>
            </a:r>
            <a:endParaRPr lang="en-US" dirty="0"/>
          </a:p>
        </p:txBody>
      </p:sp>
      <p:graphicFrame>
        <p:nvGraphicFramePr>
          <p:cNvPr id="7" name="Content Placeholder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115055"/>
              </p:ext>
            </p:extLst>
          </p:nvPr>
        </p:nvGraphicFramePr>
        <p:xfrm>
          <a:off x="2873375" y="1828800"/>
          <a:ext cx="2919413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Equation" r:id="rId3" imgW="977900" imgH="393700" progId="Equation.3">
                  <p:embed/>
                </p:oleObj>
              </mc:Choice>
              <mc:Fallback>
                <p:oleObj name="Equation" r:id="rId3" imgW="9779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73375" y="1828800"/>
                        <a:ext cx="2919413" cy="117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42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Closeness Centrality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8400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Measures how quickly information will spread from one node to </a:t>
            </a:r>
            <a:r>
              <a:rPr lang="en-US" i="1" dirty="0" smtClean="0"/>
              <a:t>all</a:t>
            </a:r>
            <a:r>
              <a:rPr lang="en-US" dirty="0" smtClean="0"/>
              <a:t> other nodes.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Node is important if close to all other nodes.</a:t>
            </a:r>
          </a:p>
          <a:p>
            <a:pPr>
              <a:buFont typeface="Wingdings" charset="2"/>
              <a:buChar char="Ø"/>
            </a:pPr>
            <a:endParaRPr lang="en-US" b="1" dirty="0" smtClean="0"/>
          </a:p>
          <a:p>
            <a:pPr>
              <a:buFont typeface="Wingdings" charset="2"/>
              <a:buChar char="Ø"/>
            </a:pPr>
            <a:r>
              <a:rPr lang="en-US" b="1" dirty="0" smtClean="0"/>
              <a:t>Farness</a:t>
            </a:r>
            <a:r>
              <a:rPr lang="en-US" dirty="0" smtClean="0"/>
              <a:t> defined as the sum of distances to all other nodes. </a:t>
            </a:r>
            <a:r>
              <a:rPr lang="en-US" b="1" dirty="0" smtClean="0"/>
              <a:t>Closeness</a:t>
            </a:r>
            <a:r>
              <a:rPr lang="en-US" dirty="0" smtClean="0"/>
              <a:t> is then the inverse of farness.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b="1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4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Closeness Centrality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Normalize </a:t>
            </a:r>
            <a:r>
              <a:rPr lang="en-US" dirty="0"/>
              <a:t>by maximum possible score, which would be 1/(n-1) when the node is connected to all others</a:t>
            </a:r>
            <a:r>
              <a:rPr lang="en-US" dirty="0" smtClean="0"/>
              <a:t>.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i.e.  multiply by (n-1) to normalize. </a:t>
            </a:r>
          </a:p>
          <a:p>
            <a:pPr>
              <a:buFont typeface="Wingdings" charset="2"/>
              <a:buChar char="Ø"/>
            </a:pPr>
            <a:r>
              <a:rPr lang="en-US" b="1" dirty="0"/>
              <a:t>Only defined for connected graphs</a:t>
            </a:r>
          </a:p>
          <a:p>
            <a:endParaRPr lang="en-US" dirty="0"/>
          </a:p>
          <a:p>
            <a:endParaRPr lang="en-US" sz="2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564799"/>
              </p:ext>
            </p:extLst>
          </p:nvPr>
        </p:nvGraphicFramePr>
        <p:xfrm>
          <a:off x="2793999" y="2025650"/>
          <a:ext cx="3053195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3" imgW="1092200" imgH="558800" progId="Equation.3">
                  <p:embed/>
                </p:oleObj>
              </mc:Choice>
              <mc:Fallback>
                <p:oleObj name="Equation" r:id="rId3" imgW="1092200" imgH="558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93999" y="2025650"/>
                        <a:ext cx="3053195" cy="156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0611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3 Centralities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84300"/>
          </a:xfrm>
        </p:spPr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The centrality measures should be correlated. 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If not, that might mean something interesting.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371877"/>
              </p:ext>
            </p:extLst>
          </p:nvPr>
        </p:nvGraphicFramePr>
        <p:xfrm>
          <a:off x="508000" y="2565400"/>
          <a:ext cx="8089900" cy="4137366"/>
        </p:xfrm>
        <a:graphic>
          <a:graphicData uri="http://schemas.openxmlformats.org/drawingml/2006/table">
            <a:tbl>
              <a:tblPr firstRow="1" firstCol="1">
                <a:tableStyleId>{08FB837D-C827-4EFA-A057-4D05807E0F7C}</a:tableStyleId>
              </a:tblPr>
              <a:tblGrid>
                <a:gridCol w="1653878"/>
                <a:gridCol w="2153888"/>
                <a:gridCol w="2192350"/>
                <a:gridCol w="2089784"/>
              </a:tblGrid>
              <a:tr h="7046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 </a:t>
                      </a:r>
                    </a:p>
                    <a:p>
                      <a:pPr algn="ctr"/>
                      <a:r>
                        <a:rPr lang="en-US" dirty="0" smtClean="0"/>
                        <a:t>Degree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 </a:t>
                      </a:r>
                    </a:p>
                    <a:p>
                      <a:pPr algn="ctr"/>
                      <a:r>
                        <a:rPr lang="en-US" dirty="0" smtClean="0"/>
                        <a:t>Closeness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 </a:t>
                      </a:r>
                    </a:p>
                    <a:p>
                      <a:pPr algn="ctr"/>
                      <a:r>
                        <a:rPr lang="en-US" dirty="0" err="1" smtClean="0"/>
                        <a:t>Betweenness</a:t>
                      </a:r>
                      <a:endParaRPr lang="en-US" dirty="0"/>
                    </a:p>
                  </a:txBody>
                  <a:tcPr/>
                </a:tc>
              </a:tr>
              <a:tr h="9756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High 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chemeClr val="bg1"/>
                          </a:solidFill>
                        </a:rPr>
                        <a:t>Degree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7580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 cluster far from rest of network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Connections</a:t>
                      </a:r>
                      <a:r>
                        <a:rPr lang="en-US" baseline="0" dirty="0" smtClean="0"/>
                        <a:t> are redundant. Communication bypasses node</a:t>
                      </a:r>
                      <a:endParaRPr lang="en-US" dirty="0"/>
                    </a:p>
                  </a:txBody>
                  <a:tcPr/>
                </a:tc>
              </a:tr>
              <a:tr h="1268351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High 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Closeness</a:t>
                      </a:r>
                    </a:p>
                  </a:txBody>
                  <a:tcPr anchor="ctr">
                    <a:solidFill>
                      <a:srgbClr val="7580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Key player, tied to important, active alternatives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Prob. multiple paths in network. Near</a:t>
                      </a:r>
                      <a:r>
                        <a:rPr lang="en-US" baseline="0" dirty="0" smtClean="0"/>
                        <a:t> many, just like everyone else</a:t>
                      </a:r>
                      <a:endParaRPr lang="en-US" dirty="0"/>
                    </a:p>
                  </a:txBody>
                  <a:tcPr/>
                </a:tc>
              </a:tr>
              <a:tr h="9756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FFFF"/>
                          </a:solidFill>
                        </a:rPr>
                        <a:t>High</a:t>
                      </a:r>
                    </a:p>
                    <a:p>
                      <a:pPr algn="ctr"/>
                      <a:r>
                        <a:rPr lang="en-US" dirty="0" err="1" smtClean="0">
                          <a:solidFill>
                            <a:srgbClr val="FFFFFF"/>
                          </a:solidFill>
                        </a:rPr>
                        <a:t>Betweenness</a:t>
                      </a:r>
                      <a:endParaRPr lang="en-US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7580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r>
                        <a:rPr lang="en-US" baseline="0" dirty="0" smtClean="0"/>
                        <a:t> few edges are crucial for network flow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RARE.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 Node monopolizes ties from few</a:t>
                      </a:r>
                      <a:r>
                        <a:rPr lang="en-US" baseline="0" dirty="0" smtClean="0"/>
                        <a:t> to many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11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Eigenvector Centrality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 smtClean="0"/>
              <a:t>Would you rather have influence over the Provost and the Chancellor or all of the university’s graduate TAs?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/>
              <a:t>The previous definitions of centrality have a problem: They don’t take into account the importance of your contacts. </a:t>
            </a:r>
            <a:endParaRPr lang="en-US" dirty="0" smtClean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Previous measures don’t necessarily measure </a:t>
            </a:r>
            <a:r>
              <a:rPr lang="en-US" b="1" i="1" dirty="0" smtClean="0"/>
              <a:t>influence.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20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Centrality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 smtClean="0"/>
              <a:t>What if each node’s centrality was the sum of the centralities of the nodes to which it is connected?</a:t>
            </a:r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Let </a:t>
            </a:r>
            <a:r>
              <a:rPr lang="en-US" b="1" dirty="0" smtClean="0"/>
              <a:t>x</a:t>
            </a:r>
            <a:r>
              <a:rPr lang="en-US" dirty="0" smtClean="0"/>
              <a:t> be the vector of centralities.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Let </a:t>
            </a:r>
            <a:r>
              <a:rPr lang="en-US" b="1" dirty="0" smtClean="0"/>
              <a:t>A </a:t>
            </a:r>
            <a:r>
              <a:rPr lang="en-US" dirty="0" smtClean="0"/>
              <a:t>be a binary adjacency matrix.</a:t>
            </a:r>
          </a:p>
          <a:p>
            <a:pPr>
              <a:buFont typeface="Wingdings" charset="2"/>
              <a:buChar char="Ø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Then,  </a:t>
            </a:r>
            <a:r>
              <a:rPr lang="en-US" b="1" dirty="0" smtClean="0"/>
              <a:t>Ax = x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09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Centrality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4" indent="0" algn="ctr">
              <a:buNone/>
            </a:pPr>
            <a:endParaRPr lang="en-US" sz="2400" b="1" dirty="0" smtClean="0"/>
          </a:p>
          <a:p>
            <a:pPr marL="0" lvl="4" indent="0" algn="ctr">
              <a:buNone/>
            </a:pPr>
            <a:r>
              <a:rPr lang="el-GR" sz="2400" b="1" dirty="0" smtClean="0"/>
              <a:t>x</a:t>
            </a:r>
            <a:r>
              <a:rPr lang="en-US" sz="2400" b="1" dirty="0" smtClean="0"/>
              <a:t>=Ax</a:t>
            </a:r>
            <a:endParaRPr lang="en-US" sz="2400" b="1" dirty="0"/>
          </a:p>
          <a:p>
            <a:pPr marL="0" indent="0" algn="ctr">
              <a:buNone/>
            </a:pPr>
            <a:endParaRPr lang="en-US" dirty="0"/>
          </a:p>
          <a:p>
            <a:pPr>
              <a:buFont typeface="Wingdings" charset="2"/>
              <a:buChar char="Ø"/>
            </a:pPr>
            <a:r>
              <a:rPr lang="en-US" dirty="0" smtClean="0"/>
              <a:t>Of </a:t>
            </a:r>
            <a:r>
              <a:rPr lang="en-US" dirty="0"/>
              <a:t>course, this may not always be possible, so we’ll add in a normalizing constant, </a:t>
            </a:r>
            <a:r>
              <a:rPr lang="en-US" dirty="0" err="1" smtClean="0"/>
              <a:t>λ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US" sz="2400" b="1" dirty="0" smtClean="0"/>
              <a:t>Ax=</a:t>
            </a:r>
            <a:r>
              <a:rPr lang="el-GR" sz="2400" b="1" dirty="0" smtClean="0"/>
              <a:t> </a:t>
            </a:r>
            <a:r>
              <a:rPr lang="el-GR" sz="2400" b="1" dirty="0" err="1" smtClean="0"/>
              <a:t>λx</a:t>
            </a:r>
            <a:endParaRPr lang="en-US" sz="2400" b="1" dirty="0" smtClean="0"/>
          </a:p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Look </a:t>
            </a:r>
            <a:r>
              <a:rPr lang="en-US" dirty="0"/>
              <a:t>familiar??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81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Eigenvector Centrality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But which eigenvalue??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We want the centralities to be positive.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The </a:t>
            </a:r>
            <a:r>
              <a:rPr lang="en-US" b="1" dirty="0" smtClean="0"/>
              <a:t>first</a:t>
            </a:r>
            <a:r>
              <a:rPr lang="en-US" dirty="0" smtClean="0"/>
              <a:t> eigenvector of an adjacency matrix is guaranteed to have all positive elements.</a:t>
            </a:r>
          </a:p>
          <a:p>
            <a:pPr lvl="1">
              <a:buFont typeface="Wingdings" charset="2"/>
              <a:buChar char="Ø"/>
            </a:pPr>
            <a:r>
              <a:rPr lang="en-US" sz="2000" dirty="0" smtClean="0"/>
              <a:t>(</a:t>
            </a:r>
            <a:r>
              <a:rPr lang="en-US" sz="2000" dirty="0" err="1" smtClean="0"/>
              <a:t>Perron-Frobenius</a:t>
            </a:r>
            <a:r>
              <a:rPr lang="en-US" sz="2000" dirty="0" smtClean="0"/>
              <a:t> Theorem of Nonnegative Matrices)</a:t>
            </a:r>
            <a:br>
              <a:rPr lang="en-US" sz="2000" dirty="0" smtClean="0"/>
            </a:br>
            <a:endParaRPr lang="en-US" sz="2000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Google’s PageRank is a variant of eigenvector centrality, using the hyperlink structure of the net.</a:t>
            </a:r>
          </a:p>
          <a:p>
            <a:pPr lvl="1">
              <a:buFont typeface="Wingdings" charset="2"/>
              <a:buChar char="Ø"/>
            </a:pPr>
            <a:r>
              <a:rPr lang="en-US" sz="1800" dirty="0" smtClean="0"/>
              <a:t>See </a:t>
            </a:r>
            <a:r>
              <a:rPr lang="en-US" sz="2000" dirty="0" smtClean="0"/>
              <a:t>original</a:t>
            </a:r>
            <a:r>
              <a:rPr lang="en-US" sz="1800" dirty="0" smtClean="0"/>
              <a:t> HITS algorithm</a:t>
            </a:r>
          </a:p>
        </p:txBody>
      </p:sp>
    </p:spTree>
    <p:extLst>
      <p:ext uri="{BB962C8B-B14F-4D97-AF65-F5344CB8AC3E}">
        <p14:creationId xmlns:p14="http://schemas.microsoft.com/office/powerpoint/2010/main" val="300997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Centralization of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Ø"/>
            </a:pPr>
            <a:endParaRPr lang="en-US" dirty="0" smtClean="0"/>
          </a:p>
          <a:p>
            <a:pPr>
              <a:buFont typeface="Wingdings" charset="2"/>
              <a:buChar char="Ø"/>
            </a:pPr>
            <a:r>
              <a:rPr lang="en-US" dirty="0" smtClean="0"/>
              <a:t>How much variation in centrality scores?</a:t>
            </a:r>
          </a:p>
          <a:p>
            <a:pPr>
              <a:buFont typeface="Wingdings" charset="2"/>
              <a:buChar char="Ø"/>
            </a:pPr>
            <a:r>
              <a:rPr lang="en-US" dirty="0" smtClean="0"/>
              <a:t>How central is maximum centrality compared to others?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06600" y="4064000"/>
                <a:ext cx="44704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charset="0"/>
                        </a:rPr>
                        <m:t>0&lt;</m:t>
                      </m:r>
                      <m:r>
                        <a:rPr lang="en-US" sz="2800" b="0" i="1" smtClean="0">
                          <a:latin typeface="Cambria Math" charset="0"/>
                        </a:rPr>
                        <m:t>𝐶𝑒𝑛𝑡𝑟𝑎𝑙𝑖𝑧𝑎𝑡𝑖𝑜𝑛</m:t>
                      </m:r>
                      <m:r>
                        <a:rPr lang="en-US" sz="2800" b="0" i="1" smtClean="0">
                          <a:latin typeface="Cambria Math" charset="0"/>
                        </a:rPr>
                        <m:t>&lt;1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600" y="4064000"/>
                <a:ext cx="4470400" cy="43088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38200" y="4800600"/>
            <a:ext cx="209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All nodes have the </a:t>
            </a:r>
            <a:r>
              <a:rPr lang="en-US" smtClean="0"/>
              <a:t>same centrality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613400" y="4800600"/>
            <a:ext cx="278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One node has maximal centrality, all other nodes have </a:t>
            </a:r>
            <a:r>
              <a:rPr lang="en-US" smtClean="0"/>
              <a:t>minimal centrality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638300" y="4381500"/>
            <a:ext cx="66040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6175375" y="4381500"/>
            <a:ext cx="60325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91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Centralization of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Ø"/>
            </a:pPr>
            <a:r>
              <a:rPr lang="en-US" dirty="0"/>
              <a:t>Freeman’s formula for </a:t>
            </a:r>
            <a:r>
              <a:rPr lang="en-US" b="1" dirty="0"/>
              <a:t>degree centralization:</a:t>
            </a:r>
          </a:p>
          <a:p>
            <a:pPr>
              <a:buFont typeface="Wingdings" charset="2"/>
              <a:buChar char="Ø"/>
            </a:pPr>
            <a:endParaRPr lang="en-US" b="1" dirty="0"/>
          </a:p>
          <a:p>
            <a:pPr>
              <a:buFont typeface="Wingdings" charset="2"/>
              <a:buChar char="Ø"/>
            </a:pPr>
            <a:endParaRPr lang="en-US" b="1" dirty="0"/>
          </a:p>
          <a:p>
            <a:pPr>
              <a:buFont typeface="Wingdings" charset="2"/>
              <a:buChar char="Ø"/>
            </a:pPr>
            <a:endParaRPr lang="en-US" b="1" dirty="0"/>
          </a:p>
          <a:p>
            <a:pPr>
              <a:buFont typeface="Wingdings" charset="2"/>
              <a:buChar char="Ø"/>
            </a:pPr>
            <a:endParaRPr lang="en-US" b="1" dirty="0"/>
          </a:p>
          <a:p>
            <a:pPr>
              <a:buFont typeface="Wingdings" charset="2"/>
              <a:buChar char="Ø"/>
            </a:pPr>
            <a:endParaRPr lang="en-US" b="1" dirty="0"/>
          </a:p>
          <a:p>
            <a:pPr>
              <a:buFont typeface="Wingdings" charset="2"/>
              <a:buChar char="Ø"/>
            </a:pPr>
            <a:endParaRPr lang="en-US" b="1" dirty="0"/>
          </a:p>
          <a:p>
            <a:pPr>
              <a:buFont typeface="Wingdings" charset="2"/>
              <a:buChar char="Ø"/>
            </a:pPr>
            <a:r>
              <a:rPr lang="en-US" dirty="0"/>
              <a:t>Can be adopted for other types of centrality just by changing denominator and centrality function.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9432"/>
              </p:ext>
            </p:extLst>
          </p:nvPr>
        </p:nvGraphicFramePr>
        <p:xfrm>
          <a:off x="1873250" y="2362200"/>
          <a:ext cx="4662854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4" imgW="1638300" imgH="660400" progId="Equation.3">
                  <p:embed/>
                </p:oleObj>
              </mc:Choice>
              <mc:Fallback>
                <p:oleObj name="Equation" r:id="rId4" imgW="1638300" imgH="660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73250" y="2362200"/>
                        <a:ext cx="4662854" cy="187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1098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Calculating Centrality Scores in</a:t>
            </a:r>
            <a:r>
              <a:rPr lang="en-US" dirty="0"/>
              <a:t> </a:t>
            </a:r>
            <a:r>
              <a:rPr lang="en-US" dirty="0" err="1" smtClean="0"/>
              <a:t>Gephi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Try: Filtering + </a:t>
            </a:r>
            <a:r>
              <a:rPr lang="en-US" smtClean="0"/>
              <a:t>Rerunning measures.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1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Executive.thmx</Template>
  <TotalTime>1971</TotalTime>
  <Words>742</Words>
  <Application>Microsoft Macintosh PowerPoint</Application>
  <PresentationFormat>On-screen Show (4:3)</PresentationFormat>
  <Paragraphs>142</Paragraphs>
  <Slides>19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Cambria Math</vt:lpstr>
      <vt:lpstr>Century Gothic</vt:lpstr>
      <vt:lpstr>Courier New</vt:lpstr>
      <vt:lpstr>Palatino Linotype</vt:lpstr>
      <vt:lpstr>Wingdings</vt:lpstr>
      <vt:lpstr>Executive</vt:lpstr>
      <vt:lpstr>Equation</vt:lpstr>
      <vt:lpstr>Network Analysis</vt:lpstr>
      <vt:lpstr>Network Centrality</vt:lpstr>
      <vt:lpstr>Centrality</vt:lpstr>
      <vt:lpstr>Degree Centrality</vt:lpstr>
      <vt:lpstr>Deceptive Degree Centrality</vt:lpstr>
      <vt:lpstr>Betweenness Centrality</vt:lpstr>
      <vt:lpstr>Betweenness Centrality</vt:lpstr>
      <vt:lpstr>Betweenness Centrality</vt:lpstr>
      <vt:lpstr>Betweenness Centrality</vt:lpstr>
      <vt:lpstr>Closeness Centrality</vt:lpstr>
      <vt:lpstr>Closeness Centrality</vt:lpstr>
      <vt:lpstr>Comparing 3 Centralities</vt:lpstr>
      <vt:lpstr>Eigenvector Centrality</vt:lpstr>
      <vt:lpstr>Eigenvector Centrality</vt:lpstr>
      <vt:lpstr>Eigenvector Centrality</vt:lpstr>
      <vt:lpstr>Eigenvector Centrality</vt:lpstr>
      <vt:lpstr>Centralization of Network</vt:lpstr>
      <vt:lpstr>Centralization of Network</vt:lpstr>
      <vt:lpstr>Calculating Centrality Scores in Gephi 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Shaina</dc:creator>
  <cp:lastModifiedBy>Shaina L Race</cp:lastModifiedBy>
  <cp:revision>43</cp:revision>
  <cp:lastPrinted>2017-03-13T18:35:25Z</cp:lastPrinted>
  <dcterms:created xsi:type="dcterms:W3CDTF">2016-03-02T01:00:24Z</dcterms:created>
  <dcterms:modified xsi:type="dcterms:W3CDTF">2018-03-10T17:47:06Z</dcterms:modified>
</cp:coreProperties>
</file>