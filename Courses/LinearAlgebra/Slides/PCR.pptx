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1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9/19/16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9/19/16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9/19/16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9/19/16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7C560-7270-E649-94A4-2B540EC6E581}" type="datetimeFigureOut">
              <a:rPr lang="en-US" smtClean="0"/>
              <a:t>9/19/16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A77C560-7270-E649-94A4-2B540EC6E581}" type="datetimeFigureOut">
              <a:rPr lang="en-US" smtClean="0"/>
              <a:t>9/19/16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F1101F4-20B5-ED4A-AB87-DE0986F5E3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Principal Component Regression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 Biased Regression Technique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93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Multicollinearity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Two or more explanatory variables in a regression model are highly correlated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Causes inflated standard errors on the regression coefficients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Can potentially switch the expected sign of a regression coefficient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8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/>
              <a:t>Dealing w/ </a:t>
            </a:r>
            <a:r>
              <a:rPr lang="en-US" sz="4800" dirty="0" err="1" smtClean="0"/>
              <a:t>Multicollinearity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Exclude redundant independent variables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Redefine variables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For polynomial regression, center the independent variables</a:t>
            </a:r>
          </a:p>
          <a:p>
            <a:pPr>
              <a:buFont typeface="Wingdings" charset="2"/>
              <a:buChar char="Ø"/>
            </a:pPr>
            <a:r>
              <a:rPr lang="en-US" b="1" dirty="0" smtClean="0"/>
              <a:t>Use biased regression techniques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Principal Component Regression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Ridge Regression (Later)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713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Biased Regression Techniques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Biased regression </a:t>
            </a:r>
            <a:r>
              <a:rPr lang="en-US" dirty="0"/>
              <a:t>techniques intentionally bias </a:t>
            </a:r>
            <a:r>
              <a:rPr lang="en-US" dirty="0" smtClean="0"/>
              <a:t>the estimation </a:t>
            </a:r>
            <a:r>
              <a:rPr lang="en-US" dirty="0"/>
              <a:t>of the regression coefficients</a:t>
            </a:r>
            <a:r>
              <a:rPr lang="en-US" dirty="0" smtClean="0"/>
              <a:t>.</a:t>
            </a:r>
          </a:p>
          <a:p>
            <a:pPr>
              <a:buFont typeface="Wingdings" charset="2"/>
              <a:buChar char="Ø"/>
            </a:pPr>
            <a:r>
              <a:rPr lang="en-US" dirty="0"/>
              <a:t>Although these methods produce estimates that </a:t>
            </a:r>
            <a:r>
              <a:rPr lang="en-US" dirty="0" smtClean="0"/>
              <a:t>are biased</a:t>
            </a:r>
            <a:r>
              <a:rPr lang="en-US" dirty="0"/>
              <a:t>, they tend to have more precision than </a:t>
            </a:r>
            <a:r>
              <a:rPr lang="en-US" dirty="0" smtClean="0"/>
              <a:t>OLS estimates </a:t>
            </a:r>
            <a:r>
              <a:rPr lang="en-US" b="1" i="1" dirty="0"/>
              <a:t>in the presence of </a:t>
            </a:r>
            <a:r>
              <a:rPr lang="en-US" b="1" i="1" dirty="0" err="1"/>
              <a:t>multicollinearity</a:t>
            </a:r>
            <a:r>
              <a:rPr lang="en-US" b="1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8723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creen Shot 2016-09-18 at 10.40.00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649" b="-7649"/>
          <a:stretch>
            <a:fillRect/>
          </a:stretch>
        </p:blipFill>
        <p:spPr/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Biased Regression Techniques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885984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 Shot 2016-09-18 at 10.40.55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8" r="3038"/>
          <a:stretch>
            <a:fillRect/>
          </a:stretch>
        </p:blipFill>
        <p:spPr/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Biased Regression Techniques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720713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creen Shot 2016-09-18 at 10.41.41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" r="1335"/>
          <a:stretch>
            <a:fillRect/>
          </a:stretch>
        </p:blipFill>
        <p:spPr/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Biased Regression Techniques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26459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creen Shot 2016-09-18 at 10.42.15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5" r="2325"/>
          <a:stretch>
            <a:fillRect/>
          </a:stretch>
        </p:blipFill>
        <p:spPr>
          <a:xfrm>
            <a:off x="457200" y="1600200"/>
            <a:ext cx="8229600" cy="4525963"/>
          </a:xfr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Biased Regression Techniques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606854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 Regression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87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err="1"/>
              <a:t>Multicollinearity</a:t>
            </a:r>
            <a:r>
              <a:rPr lang="en-US" dirty="0"/>
              <a:t> is a problem where variables are </a:t>
            </a:r>
            <a:r>
              <a:rPr lang="en-US" dirty="0" smtClean="0"/>
              <a:t>highly correlated.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Any collection of variables can be recreated as set </a:t>
            </a:r>
            <a:r>
              <a:rPr lang="en-US" dirty="0"/>
              <a:t>of orthogonal predictor variables that are </a:t>
            </a:r>
            <a:r>
              <a:rPr lang="en-US" dirty="0" smtClean="0"/>
              <a:t>a linear </a:t>
            </a:r>
            <a:r>
              <a:rPr lang="en-US" dirty="0"/>
              <a:t>combination of the original </a:t>
            </a:r>
            <a:r>
              <a:rPr lang="en-US" dirty="0" smtClean="0"/>
              <a:t>variables.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The orthogonal predictor variables are the</a:t>
            </a:r>
            <a:r>
              <a:rPr lang="en-US" b="1" dirty="0" smtClean="0"/>
              <a:t> principal components.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00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Recall that principal components are simply linear combinations of original variables. 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The coefficients of that linear combination are typically reflected in a vector:</a:t>
            </a:r>
          </a:p>
          <a:p>
            <a:endParaRPr lang="en-US" dirty="0"/>
          </a:p>
        </p:txBody>
      </p:sp>
      <p:pic>
        <p:nvPicPr>
          <p:cNvPr id="5" name="Picture 4" descr="Screen Shot 2016-09-18 at 10.50.1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95" y="3403167"/>
            <a:ext cx="4673600" cy="457200"/>
          </a:xfrm>
          <a:prstGeom prst="rect">
            <a:avLst/>
          </a:prstGeom>
        </p:spPr>
      </p:pic>
      <p:pic>
        <p:nvPicPr>
          <p:cNvPr id="6" name="Picture 5" descr="Screen Shot 2016-09-18 at 10.51.43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795" y="4264848"/>
            <a:ext cx="2032000" cy="20320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2862948" y="3478520"/>
            <a:ext cx="512270" cy="381847"/>
          </a:xfrm>
          <a:prstGeom prst="ellipse">
            <a:avLst/>
          </a:prstGeom>
          <a:noFill/>
          <a:ln w="28575" cmpd="sng">
            <a:solidFill>
              <a:srgbClr val="9C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917634" y="3478520"/>
            <a:ext cx="512270" cy="381847"/>
          </a:xfrm>
          <a:prstGeom prst="ellipse">
            <a:avLst/>
          </a:prstGeom>
          <a:noFill/>
          <a:ln w="28575" cmpd="sng">
            <a:solidFill>
              <a:srgbClr val="9C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638661" y="3478520"/>
            <a:ext cx="512270" cy="381847"/>
          </a:xfrm>
          <a:prstGeom prst="ellipse">
            <a:avLst/>
          </a:prstGeom>
          <a:noFill/>
          <a:ln w="28575" cmpd="sng">
            <a:solidFill>
              <a:srgbClr val="9C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stCxn id="10" idx="4"/>
          </p:cNvCxnSpPr>
          <p:nvPr/>
        </p:nvCxnSpPr>
        <p:spPr>
          <a:xfrm flipH="1">
            <a:off x="4879028" y="3860367"/>
            <a:ext cx="1015768" cy="2038808"/>
          </a:xfrm>
          <a:prstGeom prst="straightConnector1">
            <a:avLst/>
          </a:prstGeom>
          <a:ln>
            <a:solidFill>
              <a:srgbClr val="9C525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5"/>
          </p:cNvCxnSpPr>
          <p:nvPr/>
        </p:nvCxnSpPr>
        <p:spPr>
          <a:xfrm>
            <a:off x="3300198" y="3804447"/>
            <a:ext cx="1129706" cy="807939"/>
          </a:xfrm>
          <a:prstGeom prst="straightConnector1">
            <a:avLst/>
          </a:prstGeom>
          <a:ln>
            <a:solidFill>
              <a:srgbClr val="9C525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28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  <p:bldP spid="9" grpId="1" animBg="1"/>
      <p:bldP spid="1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Covariance Matrix of PCs looks like the following:</a:t>
            </a:r>
            <a:endParaRPr lang="en-US" dirty="0"/>
          </a:p>
        </p:txBody>
      </p:sp>
      <p:pic>
        <p:nvPicPr>
          <p:cNvPr id="4" name="Picture 3" descr="Screen Shot 2016-09-18 at 10.56.2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55" y="2538217"/>
            <a:ext cx="45974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974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361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charset="2"/>
              <a:buChar char="Ø"/>
            </a:pPr>
            <a:r>
              <a:rPr lang="en-US" sz="2600" dirty="0"/>
              <a:t>Covariance Matrix of PCs looks like the following</a:t>
            </a:r>
            <a:r>
              <a:rPr lang="en-US" sz="2600" dirty="0" smtClean="0"/>
              <a:t>:</a:t>
            </a:r>
          </a:p>
          <a:p>
            <a:pPr>
              <a:buFont typeface="Wingdings" charset="2"/>
              <a:buChar char="Ø"/>
            </a:pPr>
            <a:endParaRPr lang="en-US" sz="2600" dirty="0"/>
          </a:p>
          <a:p>
            <a:pPr>
              <a:buFont typeface="Wingdings" charset="2"/>
              <a:buChar char="Ø"/>
            </a:pPr>
            <a:endParaRPr lang="en-US" sz="2600" dirty="0" smtClean="0"/>
          </a:p>
          <a:p>
            <a:pPr>
              <a:buFont typeface="Wingdings" charset="2"/>
              <a:buChar char="Ø"/>
            </a:pPr>
            <a:endParaRPr lang="en-US" sz="2600" dirty="0"/>
          </a:p>
          <a:p>
            <a:pPr>
              <a:buFont typeface="Wingdings" charset="2"/>
              <a:buChar char="Ø"/>
            </a:pPr>
            <a:endParaRPr lang="en-US" sz="2600" dirty="0" smtClean="0"/>
          </a:p>
          <a:p>
            <a:pPr>
              <a:buFont typeface="Wingdings" charset="2"/>
              <a:buChar char="Ø"/>
            </a:pPr>
            <a:endParaRPr lang="en-US" sz="2600" dirty="0"/>
          </a:p>
          <a:p>
            <a:pPr>
              <a:buFont typeface="Wingdings" charset="2"/>
              <a:buChar char="Ø"/>
            </a:pPr>
            <a:endParaRPr lang="en-US" sz="2600" dirty="0" smtClean="0"/>
          </a:p>
          <a:p>
            <a:pPr>
              <a:buFont typeface="Wingdings" charset="2"/>
              <a:buChar char="Ø"/>
            </a:pPr>
            <a:endParaRPr lang="en-US" sz="2600" dirty="0"/>
          </a:p>
          <a:p>
            <a:pPr>
              <a:buFont typeface="Wingdings" charset="2"/>
              <a:buChar char="Ø"/>
            </a:pPr>
            <a:endParaRPr lang="en-US" sz="2600" dirty="0" smtClean="0"/>
          </a:p>
          <a:p>
            <a:pPr>
              <a:buFont typeface="Wingdings" charset="2"/>
              <a:buChar char="Ø"/>
            </a:pPr>
            <a:endParaRPr lang="en-US" sz="2600" dirty="0" smtClean="0"/>
          </a:p>
          <a:p>
            <a:pPr>
              <a:buFont typeface="Wingdings" charset="2"/>
              <a:buChar char="Ø"/>
            </a:pPr>
            <a:r>
              <a:rPr lang="en-US" sz="2600" dirty="0" smtClean="0"/>
              <a:t>If </a:t>
            </a:r>
            <a:r>
              <a:rPr lang="en-US" sz="2600" dirty="0"/>
              <a:t>the value of </a:t>
            </a:r>
            <a:r>
              <a:rPr lang="en-US" sz="2600" dirty="0" smtClean="0"/>
              <a:t>𝜆</a:t>
            </a:r>
            <a:r>
              <a:rPr lang="en-US" sz="2600" baseline="-25000" dirty="0"/>
              <a:t>j</a:t>
            </a:r>
            <a:r>
              <a:rPr lang="en-US" sz="2600" dirty="0" smtClean="0"/>
              <a:t> </a:t>
            </a:r>
            <a:r>
              <a:rPr lang="en-US" sz="2600" dirty="0"/>
              <a:t>= 0, then the corresponding PC has </a:t>
            </a:r>
            <a:r>
              <a:rPr lang="en-US" sz="2600" dirty="0" smtClean="0"/>
              <a:t>no variance </a:t>
            </a:r>
            <a:r>
              <a:rPr lang="en-US" sz="2600" dirty="0"/>
              <a:t>(a.k.a. a constant).</a:t>
            </a:r>
          </a:p>
          <a:p>
            <a:endParaRPr lang="en-US" dirty="0"/>
          </a:p>
        </p:txBody>
      </p:sp>
      <p:pic>
        <p:nvPicPr>
          <p:cNvPr id="4" name="Picture 3" descr="Screen Shot 2016-09-18 at 10.56.0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50" y="2383156"/>
            <a:ext cx="7429500" cy="2921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34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Components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By omitting any PC with 𝜆</a:t>
            </a:r>
            <a:r>
              <a:rPr lang="en-US" baseline="-25000" dirty="0" smtClean="0"/>
              <a:t>j</a:t>
            </a:r>
            <a:r>
              <a:rPr lang="en-US" dirty="0" smtClean="0"/>
              <a:t> close to 0, we essentially create an approximation of our data which has no </a:t>
            </a:r>
            <a:r>
              <a:rPr lang="en-US" dirty="0" err="1" smtClean="0"/>
              <a:t>multicollinearity</a:t>
            </a:r>
            <a:r>
              <a:rPr lang="en-US" dirty="0" smtClean="0"/>
              <a:t> in the regression model.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WHAT IS THE PROBLEM IF WE DO NOT OMIT ANY PRINCIPAL COMPONENTS FROM OUR ANALYSIS?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543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/>
              <a:t>Example – French Economy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/>
              <a:t>We are going to examine data from the French </a:t>
            </a:r>
            <a:r>
              <a:rPr lang="en-US" dirty="0" smtClean="0"/>
              <a:t>economy reported </a:t>
            </a:r>
            <a:r>
              <a:rPr lang="en-US" dirty="0"/>
              <a:t>by </a:t>
            </a:r>
            <a:r>
              <a:rPr lang="en-US" dirty="0" err="1"/>
              <a:t>Malinvaud</a:t>
            </a:r>
            <a:r>
              <a:rPr lang="en-US" dirty="0"/>
              <a:t> (1968)</a:t>
            </a:r>
            <a:r>
              <a:rPr lang="en-US" dirty="0" smtClean="0"/>
              <a:t>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Variables: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Imports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Domestic Production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Stock Formation</a:t>
            </a:r>
          </a:p>
          <a:p>
            <a:pPr lvl="1">
              <a:buFont typeface="Wingdings" charset="2"/>
              <a:buChar char="Ø"/>
            </a:pPr>
            <a:r>
              <a:rPr lang="en-US" sz="2400" dirty="0" smtClean="0"/>
              <a:t>Domestic Consumption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All measured in billions of French francs between 1949 and 1966.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43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– French Economy</a:t>
            </a:r>
          </a:p>
        </p:txBody>
      </p:sp>
      <p:pic>
        <p:nvPicPr>
          <p:cNvPr id="4" name="Content Placeholder 3" descr="Screen Shot 2016-09-18 at 11.02.54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123" b="-3212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78067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creen Shot 2016-09-18 at 11.03.27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557" r="-10557"/>
          <a:stretch>
            <a:fillRect/>
          </a:stretch>
        </p:blipFill>
        <p:spPr/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– French Economy</a:t>
            </a:r>
          </a:p>
        </p:txBody>
      </p:sp>
    </p:spTree>
    <p:extLst>
      <p:ext uri="{BB962C8B-B14F-4D97-AF65-F5344CB8AC3E}">
        <p14:creationId xmlns:p14="http://schemas.microsoft.com/office/powerpoint/2010/main" val="506587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creen Shot 2016-09-18 at 11.06.22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565" r="-9565"/>
          <a:stretch>
            <a:fillRect/>
          </a:stretch>
        </p:blipFill>
        <p:spPr/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– French Economy</a:t>
            </a:r>
          </a:p>
        </p:txBody>
      </p:sp>
    </p:spTree>
    <p:extLst>
      <p:ext uri="{BB962C8B-B14F-4D97-AF65-F5344CB8AC3E}">
        <p14:creationId xmlns:p14="http://schemas.microsoft.com/office/powerpoint/2010/main" val="1303768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/>
              <a:t>Now there is a “new” set of variables (the PC’s) that </a:t>
            </a:r>
            <a:r>
              <a:rPr lang="en-US" dirty="0" smtClean="0"/>
              <a:t>are orthogonal </a:t>
            </a:r>
            <a:r>
              <a:rPr lang="en-US" dirty="0"/>
              <a:t>to </a:t>
            </a:r>
            <a:r>
              <a:rPr lang="en-US" dirty="0" smtClean="0"/>
              <a:t>each other, </a:t>
            </a:r>
            <a:r>
              <a:rPr lang="en-US" dirty="0"/>
              <a:t>which eliminates </a:t>
            </a:r>
            <a:r>
              <a:rPr lang="en-US" dirty="0" err="1" smtClean="0"/>
              <a:t>multicollinearity</a:t>
            </a:r>
            <a:r>
              <a:rPr lang="en-US" dirty="0"/>
              <a:t> </a:t>
            </a:r>
            <a:r>
              <a:rPr lang="en-US" dirty="0" smtClean="0"/>
              <a:t>concerns.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As long as you remove those that are nearly constant!</a:t>
            </a:r>
          </a:p>
          <a:p>
            <a:pPr>
              <a:buFont typeface="Wingdings" charset="2"/>
              <a:buChar char="Ø"/>
            </a:pPr>
            <a:r>
              <a:rPr lang="en-US" dirty="0"/>
              <a:t>Principal Components Regression (PCR) Model</a:t>
            </a:r>
            <a:r>
              <a:rPr lang="en-US" dirty="0" smtClean="0"/>
              <a:t>:</a:t>
            </a:r>
          </a:p>
          <a:p>
            <a:pPr>
              <a:buFont typeface="Wingdings" charset="2"/>
              <a:buChar char="Ø"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– French Economy</a:t>
            </a:r>
          </a:p>
        </p:txBody>
      </p:sp>
      <p:pic>
        <p:nvPicPr>
          <p:cNvPr id="2" name="Picture 1" descr="Screen Shot 2016-09-18 at 11.09.2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3" y="4239067"/>
            <a:ext cx="6924888" cy="75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09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 descr="Screen Shot 2016-09-18 at 11.10.09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146" b="-7146"/>
          <a:stretch>
            <a:fillRect/>
          </a:stretch>
        </p:blipFill>
        <p:spPr/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– French Economy</a:t>
            </a:r>
          </a:p>
        </p:txBody>
      </p:sp>
    </p:spTree>
    <p:extLst>
      <p:ext uri="{BB962C8B-B14F-4D97-AF65-F5344CB8AC3E}">
        <p14:creationId xmlns:p14="http://schemas.microsoft.com/office/powerpoint/2010/main" val="2199809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 descr="Screen Shot 2016-09-18 at 11.10.09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146" b="-7146"/>
          <a:stretch>
            <a:fillRect/>
          </a:stretch>
        </p:blipFill>
        <p:spPr/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– French Economy</a:t>
            </a:r>
          </a:p>
        </p:txBody>
      </p:sp>
      <p:sp>
        <p:nvSpPr>
          <p:cNvPr id="3" name="Oval 2"/>
          <p:cNvSpPr/>
          <p:nvPr/>
        </p:nvSpPr>
        <p:spPr>
          <a:xfrm>
            <a:off x="5647642" y="1804847"/>
            <a:ext cx="2155461" cy="534769"/>
          </a:xfrm>
          <a:prstGeom prst="ellipse">
            <a:avLst/>
          </a:prstGeom>
          <a:noFill/>
          <a:ln w="28575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525078" y="2893093"/>
            <a:ext cx="2155461" cy="534769"/>
          </a:xfrm>
          <a:prstGeom prst="ellipse">
            <a:avLst/>
          </a:prstGeom>
          <a:noFill/>
          <a:ln w="28575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725372" y="2928512"/>
            <a:ext cx="2155461" cy="534769"/>
          </a:xfrm>
          <a:prstGeom prst="ellipse">
            <a:avLst/>
          </a:prstGeom>
          <a:noFill/>
          <a:ln w="28575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007099" y="3996055"/>
            <a:ext cx="2155461" cy="534769"/>
          </a:xfrm>
          <a:prstGeom prst="ellipse">
            <a:avLst/>
          </a:prstGeom>
          <a:noFill/>
          <a:ln w="28575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4294214" y="2339616"/>
            <a:ext cx="1904825" cy="553477"/>
          </a:xfrm>
          <a:prstGeom prst="straightConnector1">
            <a:avLst/>
          </a:prstGeom>
          <a:ln>
            <a:solidFill>
              <a:srgbClr val="9C525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7" idx="6"/>
          </p:cNvCxnSpPr>
          <p:nvPr/>
        </p:nvCxnSpPr>
        <p:spPr>
          <a:xfrm flipH="1">
            <a:off x="4162560" y="3427862"/>
            <a:ext cx="2907367" cy="835578"/>
          </a:xfrm>
          <a:prstGeom prst="straightConnector1">
            <a:avLst/>
          </a:prstGeom>
          <a:ln>
            <a:solidFill>
              <a:srgbClr val="9C525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637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PCR model:</a:t>
            </a:r>
          </a:p>
          <a:p>
            <a:pPr>
              <a:buFont typeface="Wingdings" charset="2"/>
              <a:buChar char="Ø"/>
            </a:pPr>
            <a:endParaRPr lang="en-US" dirty="0"/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What </a:t>
            </a:r>
            <a:r>
              <a:rPr lang="en-US" dirty="0"/>
              <a:t>is the problem with the new variables </a:t>
            </a:r>
            <a:r>
              <a:rPr lang="en-US" dirty="0" smtClean="0"/>
              <a:t>and </a:t>
            </a:r>
            <a:r>
              <a:rPr lang="fr-FR" dirty="0" smtClean="0"/>
              <a:t>coefficients 𝛼</a:t>
            </a:r>
            <a:r>
              <a:rPr lang="fr-FR" baseline="-25000" dirty="0" smtClean="0"/>
              <a:t>1</a:t>
            </a:r>
            <a:r>
              <a:rPr lang="fr-FR" dirty="0" smtClean="0"/>
              <a:t>, </a:t>
            </a:r>
            <a:r>
              <a:rPr lang="fr-FR" dirty="0"/>
              <a:t>… , </a:t>
            </a:r>
            <a:r>
              <a:rPr lang="fr-FR" dirty="0" smtClean="0"/>
              <a:t>𝛼</a:t>
            </a:r>
            <a:r>
              <a:rPr lang="fr-FR" baseline="-25000" dirty="0" smtClean="0"/>
              <a:t>k </a:t>
            </a:r>
            <a:r>
              <a:rPr lang="fr-FR" dirty="0" smtClean="0"/>
              <a:t>?</a:t>
            </a:r>
          </a:p>
          <a:p>
            <a:pPr>
              <a:buFont typeface="Wingdings" charset="2"/>
              <a:buChar char="Ø"/>
            </a:pPr>
            <a:endParaRPr lang="fr-FR" dirty="0"/>
          </a:p>
          <a:p>
            <a:pPr marL="0" indent="0" algn="ctr">
              <a:buNone/>
            </a:pPr>
            <a:r>
              <a:rPr lang="fr-FR" b="1" dirty="0" smtClean="0">
                <a:solidFill>
                  <a:schemeClr val="accent2"/>
                </a:solidFill>
              </a:rPr>
              <a:t>INTERPRETATION!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– French Economy</a:t>
            </a:r>
          </a:p>
        </p:txBody>
      </p:sp>
      <p:pic>
        <p:nvPicPr>
          <p:cNvPr id="5" name="Picture 4" descr="Screen Shot 2016-09-18 at 11.09.2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3" y="2099989"/>
            <a:ext cx="6924888" cy="75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5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Principal Components Regression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the PC’s are </a:t>
            </a:r>
            <a:r>
              <a:rPr lang="en-US" dirty="0" smtClean="0"/>
              <a:t>simply functions </a:t>
            </a:r>
            <a:r>
              <a:rPr lang="en-US" dirty="0"/>
              <a:t>of the original variables</a:t>
            </a:r>
            <a:r>
              <a:rPr lang="en-US" dirty="0" smtClean="0"/>
              <a:t>, they </a:t>
            </a:r>
            <a:r>
              <a:rPr lang="en-US" dirty="0"/>
              <a:t>can be replaced with the linear combinations.</a:t>
            </a:r>
          </a:p>
        </p:txBody>
      </p:sp>
      <p:pic>
        <p:nvPicPr>
          <p:cNvPr id="4" name="Picture 3" descr="Screen Shot 2016-09-18 at 11.09.2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13" y="2835297"/>
            <a:ext cx="6924888" cy="757685"/>
          </a:xfrm>
          <a:prstGeom prst="rect">
            <a:avLst/>
          </a:prstGeom>
        </p:spPr>
      </p:pic>
      <p:pic>
        <p:nvPicPr>
          <p:cNvPr id="5" name="Picture 4" descr="Screen Shot 2016-09-18 at 10.50.18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381" y="3860366"/>
            <a:ext cx="6320676" cy="618327"/>
          </a:xfrm>
          <a:prstGeom prst="rect">
            <a:avLst/>
          </a:prstGeom>
        </p:spPr>
      </p:pic>
      <p:pic>
        <p:nvPicPr>
          <p:cNvPr id="6" name="Picture 5" descr="Screen Shot 2016-09-18 at 11.34.31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64" y="5502891"/>
            <a:ext cx="6355293" cy="900027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>
          <a:xfrm>
            <a:off x="4093705" y="4478693"/>
            <a:ext cx="818741" cy="102419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3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Replacement Math</a:t>
            </a:r>
            <a:endParaRPr lang="en-US" dirty="0"/>
          </a:p>
        </p:txBody>
      </p:sp>
      <p:pic>
        <p:nvPicPr>
          <p:cNvPr id="4" name="Content Placeholder 3" descr="Screen Shot 2016-09-18 at 11.35.26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749" r="-1374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79010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Automatic Replacement</a:t>
            </a:r>
            <a:br>
              <a:rPr lang="en-US" dirty="0" smtClean="0"/>
            </a:br>
            <a:r>
              <a:rPr lang="en-US" dirty="0" smtClean="0"/>
              <a:t>via PROC PLS</a:t>
            </a:r>
            <a:endParaRPr lang="en-US" dirty="0"/>
          </a:p>
        </p:txBody>
      </p:sp>
      <p:pic>
        <p:nvPicPr>
          <p:cNvPr id="6" name="Content Placeholder 5" descr="Screen Shot 2016-09-18 at 11.35.59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4092" b="-13409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318437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sz="2800" dirty="0" smtClean="0"/>
              <a:t>May not always work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May have trouble explaining variability in the response variable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Never blindly drop PCs!</a:t>
            </a:r>
          </a:p>
          <a:p>
            <a:pPr>
              <a:buFont typeface="Wingdings" charset="2"/>
              <a:buChar char="Ø"/>
            </a:pPr>
            <a:r>
              <a:rPr lang="en-US" sz="2800" dirty="0"/>
              <a:t>Outliers / influential </a:t>
            </a:r>
            <a:r>
              <a:rPr lang="en-US" sz="2800" dirty="0" smtClean="0"/>
              <a:t>observations can </a:t>
            </a:r>
            <a:r>
              <a:rPr lang="en-US" sz="2800" dirty="0"/>
              <a:t>severely distort </a:t>
            </a:r>
            <a:r>
              <a:rPr lang="en-US" sz="2800" dirty="0" smtClean="0"/>
              <a:t>the principal </a:t>
            </a:r>
            <a:r>
              <a:rPr lang="en-US" sz="2800" dirty="0"/>
              <a:t>components because they alter the </a:t>
            </a:r>
            <a:r>
              <a:rPr lang="en-US" sz="2800" dirty="0" smtClean="0"/>
              <a:t>covariance</a:t>
            </a:r>
            <a:r>
              <a:rPr lang="en-US" sz="2800" dirty="0"/>
              <a:t> </a:t>
            </a:r>
            <a:r>
              <a:rPr lang="en-US" sz="2800" dirty="0" smtClean="0"/>
              <a:t>matrix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5428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Executive.thmx</Template>
  <TotalTime>71</TotalTime>
  <Words>485</Words>
  <Application>Microsoft Macintosh PowerPoint</Application>
  <PresentationFormat>On-screen Show (4:3)</PresentationFormat>
  <Paragraphs>78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Century Gothic</vt:lpstr>
      <vt:lpstr>Courier New</vt:lpstr>
      <vt:lpstr>Palatino Linotype</vt:lpstr>
      <vt:lpstr>Wingdings</vt:lpstr>
      <vt:lpstr>Executive</vt:lpstr>
      <vt:lpstr>Principal Component Regression</vt:lpstr>
      <vt:lpstr>Multicollinearity</vt:lpstr>
      <vt:lpstr>Dealing w/ Multicollinearity</vt:lpstr>
      <vt:lpstr>Biased Regression Techniques</vt:lpstr>
      <vt:lpstr>Biased Regression Techniques</vt:lpstr>
      <vt:lpstr>Biased Regression Techniques</vt:lpstr>
      <vt:lpstr>Biased Regression Techniques</vt:lpstr>
      <vt:lpstr>Biased Regression Techniques</vt:lpstr>
      <vt:lpstr>Principal Component Regression</vt:lpstr>
      <vt:lpstr>Principal Components</vt:lpstr>
      <vt:lpstr>Principal Components</vt:lpstr>
      <vt:lpstr>Principal Components</vt:lpstr>
      <vt:lpstr>Principal Components</vt:lpstr>
      <vt:lpstr>Principal Components Regression</vt:lpstr>
      <vt:lpstr>Example – French Economy</vt:lpstr>
      <vt:lpstr>Example – French Economy</vt:lpstr>
      <vt:lpstr>Example – French Economy</vt:lpstr>
      <vt:lpstr>Example – French Economy</vt:lpstr>
      <vt:lpstr>Example – French Economy</vt:lpstr>
      <vt:lpstr>Example – French Economy</vt:lpstr>
      <vt:lpstr>Example – French Economy</vt:lpstr>
      <vt:lpstr>Example – French Economy</vt:lpstr>
      <vt:lpstr>Principal Components Regression</vt:lpstr>
      <vt:lpstr>The Replacement Math</vt:lpstr>
      <vt:lpstr>Automatic Replacement via PROC PLS</vt:lpstr>
      <vt:lpstr>Cautions</vt:lpstr>
    </vt:vector>
  </TitlesOfParts>
  <Company/>
  <LinksUpToDate>false</LinksUpToDate>
  <SharedDoc>false</SharedDoc>
  <HyperlinksChanged>false</HyperlinksChanged>
  <AppVersion>15.0023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 Regression</dc:title>
  <dc:creator>Jesse</dc:creator>
  <cp:lastModifiedBy>Shaina Race</cp:lastModifiedBy>
  <cp:revision>12</cp:revision>
  <dcterms:created xsi:type="dcterms:W3CDTF">2016-09-18T14:30:42Z</dcterms:created>
  <dcterms:modified xsi:type="dcterms:W3CDTF">2016-09-19T12:39:10Z</dcterms:modified>
</cp:coreProperties>
</file>